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7f4998b-46ce-265e-0b95-423057b3a727}">
          <p14:sldIdLst>
            <p14:sldId id="256"/>
          </p14:sldIdLst>
        </p14:section>
        <p14:section name="Problem and idea" id="{a0b83a19-e3db-b61d-ad73-42fad1feb419}">
          <p14:sldIdLst>
            <p14:sldId id="257"/>
            <p14:sldId id="258"/>
          </p14:sldIdLst>
        </p14:section>
        <p14:section name="Product" id="{3968a588-ec5c-5a02-3574-03a75afbfc6a}">
          <p14:sldIdLst>
            <p14:sldId id="259"/>
            <p14:sldId id="260"/>
          </p14:sldIdLst>
        </p14:section>
        <p14:section name="Build" id="{9dbaadb8-dbb7-fb3b-9291-3105ce1c8ca3}">
          <p14:sldIdLst>
            <p14:sldId id="261"/>
            <p14:sldId id="262"/>
            <p14:sldId id="263"/>
          </p14:sldIdLst>
        </p14:section>
        <p14:section name="Traction and plan" id="{c0740b10-c8d1-59f0-72b3-61a12ab2538d}">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CRAWL_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CRAWL_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1FF72"/>
                </a:solidFill>
                <a:latin typeface="Press Start 2P"/>
                <a:ea typeface="Press Start 2P"/>
                <a:cs typeface="Press Start 2P"/>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1FF72"/>
                </a:solidFill>
                <a:latin typeface="Press Start 2P"/>
                <a:ea typeface="Press Start 2P"/>
                <a:cs typeface="Press Start 2P"/>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Scrawl logo">    </p:cNvPr>
          <p:cNvPicPr>
            <a:picLocks noChangeAspect="1"/>
          </p:cNvPicPr>
          <p:nvPr/>
        </p:nvPicPr>
        <p:blipFill>
          <a:blip r:embed="rId1"/>
          <a:stretch>
            <a:fillRect/>
          </a:stretch>
        </p:blipFill>
        <p:spPr>
          <a:xfrm>
            <a:off x="640080" y="685800"/>
            <a:ext cx="1828800" cy="1828800"/>
          </a:xfrm>
          <a:prstGeom prst="rect">
            <a:avLst/>
          </a:prstGeom>
        </p:spPr>
      </p:pic>
      <p:sp>
        <p:nvSpPr>
          <p:cNvPr id="3" name="Title"/>
          <p:cNvSpPr txBox="1"/>
          <p:nvPr/>
        </p:nvSpPr>
        <p:spPr>
          <a:xfrm>
            <a:off x="640080" y="2743200"/>
            <a:ext cx="7315200" cy="1005840"/>
          </a:xfrm>
          <a:prstGeom prst="rect">
            <a:avLst/>
          </a:prstGeom>
          <a:noFill/>
          <a:ln/>
        </p:spPr>
        <p:txBody>
          <a:bodyPr wrap="square" lIns="0" tIns="0" rIns="0" bIns="0" rtlCol="0" anchor="ctr"/>
          <a:lstStyle/>
          <a:p>
            <a:pPr indent="0" marL="0">
              <a:buNone/>
            </a:pPr>
            <a:r>
              <a:rPr lang="en-US" sz="6000" b="1" dirty="0">
                <a:solidFill>
                  <a:schemeClr val="accent1"/>
                </a:solidFill>
                <a:latin typeface="Orbitron" pitchFamily="34" charset="0"/>
                <a:ea typeface="Orbitron" pitchFamily="34" charset="-122"/>
                <a:cs typeface="Orbitron" pitchFamily="34" charset="-120"/>
              </a:rPr>
              <a:t>SCRAWL</a:t>
            </a:r>
            <a:endParaRPr lang="en-US" sz="6000" dirty="0"/>
          </a:p>
        </p:txBody>
      </p:sp>
      <p:sp>
        <p:nvSpPr>
          <p:cNvPr id="4" name="Subtitle"/>
          <p:cNvSpPr txBox="1"/>
          <p:nvPr/>
        </p:nvSpPr>
        <p:spPr>
          <a:xfrm>
            <a:off x="640080" y="3794760"/>
            <a:ext cx="7680960" cy="1005840"/>
          </a:xfrm>
          <a:prstGeom prst="rect">
            <a:avLst/>
          </a:prstGeom>
          <a:noFill/>
          <a:ln/>
        </p:spPr>
        <p:txBody>
          <a:bodyPr wrap="square" lIns="0" tIns="0" rIns="0" bIns="0" rtlCol="0" anchor="t"/>
          <a:lstStyle/>
          <a:p>
            <a:pPr indent="0" marL="0">
              <a:buNone/>
            </a:pPr>
            <a:r>
              <a:rPr lang="en-US" sz="2000" b="1" dirty="0">
                <a:solidFill>
                  <a:srgbClr val="C1FF72"/>
                </a:solidFill>
                <a:latin typeface="Orbitron" pitchFamily="34" charset="0"/>
                <a:ea typeface="Orbitron" pitchFamily="34" charset="-122"/>
                <a:cs typeface="Orbitron" pitchFamily="34" charset="-120"/>
              </a:rPr>
              <a:t>Draw your futures. </a:t>
            </a:r>
            <a:pPr indent="0" marL="0">
              <a:buNone/>
            </a:pPr>
            <a:r>
              <a:rPr lang="en-US" sz="2000" dirty="0">
                <a:solidFill>
                  <a:srgbClr val="F4F0FF"/>
                </a:solidFill>
                <a:latin typeface="Orbitron" pitchFamily="34" charset="0"/>
                <a:ea typeface="Orbitron" pitchFamily="34" charset="-122"/>
                <a:cs typeface="Orbitron" pitchFamily="34" charset="-120"/>
              </a:rPr>
              <a:t>Sketch the next 60 seconds of SOL, stake it on Solana, get scored on every move.</a:t>
            </a:r>
            <a:endParaRPr lang="en-US" sz="2000" dirty="0"/>
          </a:p>
        </p:txBody>
      </p:sp>
      <p:sp>
        <p:nvSpPr>
          <p:cNvPr id="5" name="Tag"/>
          <p:cNvSpPr txBox="1"/>
          <p:nvPr/>
        </p:nvSpPr>
        <p:spPr>
          <a:xfrm>
            <a:off x="640080" y="5029200"/>
            <a:ext cx="10058400" cy="274320"/>
          </a:xfrm>
          <a:prstGeom prst="rect">
            <a:avLst/>
          </a:prstGeom>
          <a:noFill/>
          <a:ln/>
        </p:spPr>
        <p:txBody>
          <a:bodyPr wrap="square" lIns="0" tIns="0" rIns="0" bIns="0" rtlCol="0" anchor="ctr"/>
          <a:lstStyle/>
          <a:p>
            <a:pPr indent="0" marL="0">
              <a:buNone/>
            </a:pPr>
            <a:r>
              <a:rPr lang="en-US" sz="1000" dirty="0">
                <a:solidFill>
                  <a:srgbClr val="C1FF72"/>
                </a:solidFill>
                <a:latin typeface="Press Start 2P" pitchFamily="34" charset="0"/>
                <a:ea typeface="Press Start 2P" pitchFamily="34" charset="-122"/>
                <a:cs typeface="Press Start 2P" pitchFamily="34" charset="-120"/>
              </a:rPr>
              <a:t>SOLANA MOBILE HACKATHON  /  MOBILE TRACK  /  ANDROID  /  DEVNET</a:t>
            </a:r>
            <a:endParaRPr lang="en-US" sz="1000" dirty="0"/>
          </a:p>
        </p:txBody>
      </p:sp>
      <p:pic>
        <p:nvPicPr>
          <p:cNvPr id="6" name="Nyan Cat" descr="Nyan Cat running with a rainbow trail">    </p:cNvPr>
          <p:cNvPicPr>
            <a:picLocks noChangeAspect="1"/>
          </p:cNvPicPr>
          <p:nvPr/>
        </p:nvPicPr>
        <p:blipFill>
          <a:blip r:embed="rId2"/>
          <a:stretch>
            <a:fillRect/>
          </a:stretch>
        </p:blipFill>
        <p:spPr>
          <a:xfrm>
            <a:off x="5577840" y="4709160"/>
            <a:ext cx="6400800" cy="2039112"/>
          </a:xfrm>
          <a:prstGeom prst="rect">
            <a:avLst/>
          </a:prstGeom>
        </p:spPr>
      </p:pic>
      <p:sp>
        <p:nvSpPr>
          <p:cNvPr id="25" name="Slide Number Placeholder 0"/>
          <p:cNvSpPr>
            <a:spLocks noGrp="1"/>
          </p:cNvSpPr>
          <p:nvPr>
            <p:ph type="sldNum" sz="quarter" idx="4294967295"/>
          </p:nvPr>
        </p:nvSpPr>
        <p:spPr>
          <a:xfrm>
            <a:off x="1115568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1FF72"/>
                </a:solidFill>
                <a:latin typeface="Press Start 2P"/>
                <a:ea typeface="Press Start 2P"/>
                <a:cs typeface="Press Start 2P"/>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ag"/>
          <p:cNvSpPr txBox="1"/>
          <p:nvPr/>
        </p:nvSpPr>
        <p:spPr>
          <a:xfrm>
            <a:off x="640080" y="502920"/>
            <a:ext cx="10911535" cy="274320"/>
          </a:xfrm>
          <a:prstGeom prst="rect">
            <a:avLst/>
          </a:prstGeom>
          <a:noFill/>
          <a:ln/>
        </p:spPr>
        <p:txBody>
          <a:bodyPr wrap="square" lIns="0" tIns="0" rIns="0" bIns="0" rtlCol="0" anchor="ctr"/>
          <a:lstStyle/>
          <a:p>
            <a:pPr indent="0" marL="0">
              <a:buNone/>
            </a:pPr>
            <a:r>
              <a:rPr lang="en-US" sz="1000" dirty="0">
                <a:solidFill>
                  <a:schemeClr val="accent1"/>
                </a:solidFill>
                <a:latin typeface="Press Start 2P" pitchFamily="34" charset="0"/>
                <a:ea typeface="Press Start 2P" pitchFamily="34" charset="-122"/>
                <a:cs typeface="Press Start 2P" pitchFamily="34" charset="-120"/>
              </a:rPr>
              <a:t>THE PROBLEM</a:t>
            </a:r>
            <a:endParaRPr lang="en-US" sz="1000" dirty="0"/>
          </a:p>
        </p:txBody>
      </p:sp>
      <p:sp>
        <p:nvSpPr>
          <p:cNvPr id="3" name="Title"/>
          <p:cNvSpPr txBox="1"/>
          <p:nvPr/>
        </p:nvSpPr>
        <p:spPr>
          <a:xfrm>
            <a:off x="640080" y="868680"/>
            <a:ext cx="10911535" cy="1005840"/>
          </a:xfrm>
          <a:prstGeom prst="rect">
            <a:avLst/>
          </a:prstGeom>
          <a:noFill/>
          <a:ln/>
        </p:spPr>
        <p:txBody>
          <a:bodyPr wrap="square" lIns="0" tIns="0" rIns="0" bIns="0" rtlCol="0" anchor="t">
            <a:normAutofit/>
          </a:bodyPr>
          <a:lstStyle/>
          <a:p>
            <a:pPr indent="0" marL="0">
              <a:buNone/>
            </a:pPr>
            <a:r>
              <a:rPr lang="en-US" sz="3400" b="1" i="1" dirty="0">
                <a:solidFill>
                  <a:schemeClr val="accent1"/>
                </a:solidFill>
                <a:latin typeface="Orbitron" pitchFamily="34" charset="0"/>
                <a:ea typeface="Orbitron" pitchFamily="34" charset="-122"/>
                <a:cs typeface="Orbitron" pitchFamily="34" charset="-120"/>
              </a:rPr>
              <a:t>Perps look like a cockpit. Most people never try one</a:t>
            </a:r>
            <a:endParaRPr lang="en-US" sz="3400" dirty="0"/>
          </a:p>
        </p:txBody>
      </p:sp>
      <p:sp>
        <p:nvSpPr>
          <p:cNvPr id="4" name="Card shadow"/>
          <p:cNvSpPr/>
          <p:nvPr/>
        </p:nvSpPr>
        <p:spPr>
          <a:xfrm>
            <a:off x="722376" y="2505456"/>
            <a:ext cx="3474720" cy="1920240"/>
          </a:xfrm>
          <a:prstGeom prst="roundRect">
            <a:avLst>
              <a:gd name="adj" fmla="val 6667"/>
            </a:avLst>
          </a:prstGeom>
          <a:solidFill>
            <a:srgbClr val="1800AD"/>
          </a:solidFill>
          <a:ln w="12700">
            <a:solidFill>
              <a:srgbClr val="1800AD"/>
            </a:solidFill>
            <a:prstDash val="solid"/>
          </a:ln>
        </p:spPr>
      </p:sp>
      <p:sp>
        <p:nvSpPr>
          <p:cNvPr id="5" name="Card"/>
          <p:cNvSpPr/>
          <p:nvPr/>
        </p:nvSpPr>
        <p:spPr>
          <a:xfrm>
            <a:off x="640080" y="2423160"/>
            <a:ext cx="3474720" cy="1920240"/>
          </a:xfrm>
          <a:prstGeom prst="roundRect">
            <a:avLst>
              <a:gd name="adj" fmla="val 6667"/>
            </a:avLst>
          </a:prstGeom>
          <a:solidFill>
            <a:srgbClr val="0A0014"/>
          </a:solidFill>
          <a:ln w="31750">
            <a:solidFill>
              <a:srgbClr val="C1FF72"/>
            </a:solidFill>
          </a:ln>
        </p:spPr>
        <p:txBody>
          <a:bodyPr wrap="square" lIns="139700" tIns="177800" rIns="177800" bIns="139700" rtlCol="0" anchor="t"/>
          <a:lstStyle/>
          <a:p>
            <a:pPr indent="0" marL="0">
              <a:spcAft>
                <a:spcPts val="600"/>
              </a:spcAft>
              <a:buNone/>
            </a:pPr>
            <a:r>
              <a:rPr lang="en-US" sz="1600" b="1" dirty="0">
                <a:solidFill>
                  <a:srgbClr val="C1FF72"/>
                </a:solidFill>
                <a:latin typeface="Orbitron" pitchFamily="34" charset="0"/>
                <a:ea typeface="Orbitron" pitchFamily="34" charset="-122"/>
                <a:cs typeface="Orbitron" pitchFamily="34" charset="-120"/>
              </a:rPr>
              <a:t>Order books</a:t>
            </a:r>
            <a:endParaRPr lang="en-US" sz="1400" dirty="0"/>
          </a:p>
          <a:p>
            <a:pPr indent="0" marL="0">
              <a:buNone/>
            </a:pPr>
            <a:r>
              <a:rPr lang="en-US" sz="1400" dirty="0">
                <a:solidFill>
                  <a:srgbClr val="B9B0E6"/>
                </a:solidFill>
                <a:latin typeface="Orbitron" pitchFamily="34" charset="0"/>
                <a:ea typeface="Orbitron" pitchFamily="34" charset="-122"/>
                <a:cs typeface="Orbitron" pitchFamily="34" charset="-120"/>
              </a:rPr>
              <a:t>Limit, stop, reduce-only. Three tabs before you place a bet on a price.</a:t>
            </a:r>
            <a:endParaRPr lang="en-US" sz="1400" dirty="0"/>
          </a:p>
        </p:txBody>
      </p:sp>
      <p:sp>
        <p:nvSpPr>
          <p:cNvPr id="6" name="Card shadow"/>
          <p:cNvSpPr/>
          <p:nvPr/>
        </p:nvSpPr>
        <p:spPr>
          <a:xfrm>
            <a:off x="4517136" y="2505456"/>
            <a:ext cx="3474720" cy="1920240"/>
          </a:xfrm>
          <a:prstGeom prst="roundRect">
            <a:avLst>
              <a:gd name="adj" fmla="val 6667"/>
            </a:avLst>
          </a:prstGeom>
          <a:solidFill>
            <a:srgbClr val="1800AD"/>
          </a:solidFill>
          <a:ln w="12700">
            <a:solidFill>
              <a:srgbClr val="1800AD"/>
            </a:solidFill>
            <a:prstDash val="solid"/>
          </a:ln>
        </p:spPr>
      </p:sp>
      <p:sp>
        <p:nvSpPr>
          <p:cNvPr id="7" name="Card"/>
          <p:cNvSpPr/>
          <p:nvPr/>
        </p:nvSpPr>
        <p:spPr>
          <a:xfrm>
            <a:off x="4434840" y="2423160"/>
            <a:ext cx="3474720" cy="1920240"/>
          </a:xfrm>
          <a:prstGeom prst="roundRect">
            <a:avLst>
              <a:gd name="adj" fmla="val 6667"/>
            </a:avLst>
          </a:prstGeom>
          <a:solidFill>
            <a:srgbClr val="0A0014"/>
          </a:solidFill>
          <a:ln w="31750">
            <a:solidFill>
              <a:srgbClr val="C1FF72"/>
            </a:solidFill>
          </a:ln>
        </p:spPr>
        <p:txBody>
          <a:bodyPr wrap="square" lIns="139700" tIns="177800" rIns="177800" bIns="139700" rtlCol="0" anchor="t"/>
          <a:lstStyle/>
          <a:p>
            <a:pPr indent="0" marL="0">
              <a:spcAft>
                <a:spcPts val="600"/>
              </a:spcAft>
              <a:buNone/>
            </a:pPr>
            <a:r>
              <a:rPr lang="en-US" sz="1600" b="1" dirty="0">
                <a:solidFill>
                  <a:srgbClr val="C1FF72"/>
                </a:solidFill>
                <a:latin typeface="Orbitron" pitchFamily="34" charset="0"/>
                <a:ea typeface="Orbitron" pitchFamily="34" charset="-122"/>
                <a:cs typeface="Orbitron" pitchFamily="34" charset="-120"/>
              </a:rPr>
              <a:t>Liquidation maths</a:t>
            </a:r>
            <a:endParaRPr lang="en-US" sz="1400" dirty="0"/>
          </a:p>
          <a:p>
            <a:pPr indent="0" marL="0">
              <a:buNone/>
            </a:pPr>
            <a:r>
              <a:rPr lang="en-US" sz="1400" dirty="0">
                <a:solidFill>
                  <a:srgbClr val="B9B0E6"/>
                </a:solidFill>
                <a:latin typeface="Orbitron" pitchFamily="34" charset="0"/>
                <a:ea typeface="Orbitron" pitchFamily="34" charset="-122"/>
                <a:cs typeface="Orbitron" pitchFamily="34" charset="-120"/>
              </a:rPr>
              <a:t>Margin, funding, maintenance. A wrong number and the position is gone.</a:t>
            </a:r>
            <a:endParaRPr lang="en-US" sz="1400" dirty="0"/>
          </a:p>
        </p:txBody>
      </p:sp>
      <p:sp>
        <p:nvSpPr>
          <p:cNvPr id="8" name="Card shadow"/>
          <p:cNvSpPr/>
          <p:nvPr/>
        </p:nvSpPr>
        <p:spPr>
          <a:xfrm>
            <a:off x="8311896" y="2505456"/>
            <a:ext cx="3474720" cy="1920240"/>
          </a:xfrm>
          <a:prstGeom prst="roundRect">
            <a:avLst>
              <a:gd name="adj" fmla="val 6667"/>
            </a:avLst>
          </a:prstGeom>
          <a:solidFill>
            <a:srgbClr val="1800AD"/>
          </a:solidFill>
          <a:ln w="12700">
            <a:solidFill>
              <a:srgbClr val="1800AD"/>
            </a:solidFill>
            <a:prstDash val="solid"/>
          </a:ln>
        </p:spPr>
      </p:sp>
      <p:sp>
        <p:nvSpPr>
          <p:cNvPr id="9" name="Card"/>
          <p:cNvSpPr/>
          <p:nvPr/>
        </p:nvSpPr>
        <p:spPr>
          <a:xfrm>
            <a:off x="8229600" y="2423160"/>
            <a:ext cx="3474720" cy="1920240"/>
          </a:xfrm>
          <a:prstGeom prst="roundRect">
            <a:avLst>
              <a:gd name="adj" fmla="val 6667"/>
            </a:avLst>
          </a:prstGeom>
          <a:solidFill>
            <a:srgbClr val="0A0014"/>
          </a:solidFill>
          <a:ln w="31750">
            <a:solidFill>
              <a:srgbClr val="C1FF72"/>
            </a:solidFill>
          </a:ln>
        </p:spPr>
        <p:txBody>
          <a:bodyPr wrap="square" lIns="139700" tIns="177800" rIns="177800" bIns="139700" rtlCol="0" anchor="t"/>
          <a:lstStyle/>
          <a:p>
            <a:pPr indent="0" marL="0">
              <a:spcAft>
                <a:spcPts val="600"/>
              </a:spcAft>
              <a:buNone/>
            </a:pPr>
            <a:r>
              <a:rPr lang="en-US" sz="1600" b="1" dirty="0">
                <a:solidFill>
                  <a:srgbClr val="C1FF72"/>
                </a:solidFill>
                <a:latin typeface="Orbitron" pitchFamily="34" charset="0"/>
                <a:ea typeface="Orbitron" pitchFamily="34" charset="-122"/>
                <a:cs typeface="Orbitron" pitchFamily="34" charset="-120"/>
              </a:rPr>
              <a:t>Built for a desk</a:t>
            </a:r>
            <a:endParaRPr lang="en-US" sz="1400" dirty="0"/>
          </a:p>
          <a:p>
            <a:pPr indent="0" marL="0">
              <a:buNone/>
            </a:pPr>
            <a:r>
              <a:rPr lang="en-US" sz="1400" dirty="0">
                <a:solidFill>
                  <a:srgbClr val="B9B0E6"/>
                </a:solidFill>
                <a:latin typeface="Orbitron" pitchFamily="34" charset="0"/>
                <a:ea typeface="Orbitron" pitchFamily="34" charset="-122"/>
                <a:cs typeface="Orbitron" pitchFamily="34" charset="-120"/>
              </a:rPr>
              <a:t>Tiny charts and dense tables, on a screen you hold in one hand.</a:t>
            </a:r>
            <a:endParaRPr lang="en-US" sz="1400" dirty="0"/>
          </a:p>
        </p:txBody>
      </p:sp>
      <p:sp>
        <p:nvSpPr>
          <p:cNvPr id="10" name="Takeaway"/>
          <p:cNvSpPr txBox="1"/>
          <p:nvPr/>
        </p:nvSpPr>
        <p:spPr>
          <a:xfrm>
            <a:off x="640080" y="4937760"/>
            <a:ext cx="9601200" cy="914400"/>
          </a:xfrm>
          <a:prstGeom prst="rect">
            <a:avLst/>
          </a:prstGeom>
          <a:noFill/>
          <a:ln/>
        </p:spPr>
        <p:txBody>
          <a:bodyPr wrap="square" lIns="0" tIns="0" rIns="0" bIns="0" rtlCol="0" anchor="t"/>
          <a:lstStyle/>
          <a:p>
            <a:pPr indent="0" marL="0">
              <a:buNone/>
            </a:pPr>
            <a:r>
              <a:rPr lang="en-US" sz="1800" dirty="0">
                <a:solidFill>
                  <a:srgbClr val="F4F0FF"/>
                </a:solidFill>
                <a:latin typeface="Orbitron" pitchFamily="34" charset="0"/>
                <a:ea typeface="Orbitron" pitchFamily="34" charset="-122"/>
                <a:cs typeface="Orbitron" pitchFamily="34" charset="-120"/>
              </a:rPr>
              <a:t>Phones are where people already have a wallet and a minute to spare. Nobody has made a market view that is native to that.</a:t>
            </a:r>
            <a:endParaRPr lang="en-US" sz="1800" dirty="0"/>
          </a:p>
        </p:txBody>
      </p:sp>
      <p:sp>
        <p:nvSpPr>
          <p:cNvPr id="25" name="Slide Number Placeholder 0"/>
          <p:cNvSpPr>
            <a:spLocks noGrp="1"/>
          </p:cNvSpPr>
          <p:nvPr>
            <p:ph type="sldNum" sz="quarter" idx="4294967295"/>
          </p:nvPr>
        </p:nvSpPr>
        <p:spPr>
          <a:xfrm>
            <a:off x="1115568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1FF72"/>
                </a:solidFill>
                <a:latin typeface="Press Start 2P"/>
                <a:ea typeface="Press Start 2P"/>
                <a:cs typeface="Press Start 2P"/>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ag"/>
          <p:cNvSpPr txBox="1"/>
          <p:nvPr/>
        </p:nvSpPr>
        <p:spPr>
          <a:xfrm>
            <a:off x="640080" y="502920"/>
            <a:ext cx="10911535" cy="274320"/>
          </a:xfrm>
          <a:prstGeom prst="rect">
            <a:avLst/>
          </a:prstGeom>
          <a:noFill/>
          <a:ln/>
        </p:spPr>
        <p:txBody>
          <a:bodyPr wrap="square" lIns="0" tIns="0" rIns="0" bIns="0" rtlCol="0" anchor="ctr"/>
          <a:lstStyle/>
          <a:p>
            <a:pPr indent="0" marL="0">
              <a:buNone/>
            </a:pPr>
            <a:r>
              <a:rPr lang="en-US" sz="1000" dirty="0">
                <a:solidFill>
                  <a:schemeClr val="accent1"/>
                </a:solidFill>
                <a:latin typeface="Press Start 2P" pitchFamily="34" charset="0"/>
                <a:ea typeface="Press Start 2P" pitchFamily="34" charset="-122"/>
                <a:cs typeface="Press Start 2P" pitchFamily="34" charset="-120"/>
              </a:rPr>
              <a:t>THE IDEA</a:t>
            </a:r>
            <a:endParaRPr lang="en-US" sz="1000" dirty="0"/>
          </a:p>
        </p:txBody>
      </p:sp>
      <p:sp>
        <p:nvSpPr>
          <p:cNvPr id="3" name="Title"/>
          <p:cNvSpPr txBox="1"/>
          <p:nvPr/>
        </p:nvSpPr>
        <p:spPr>
          <a:xfrm>
            <a:off x="640080" y="868680"/>
            <a:ext cx="10911535" cy="1005840"/>
          </a:xfrm>
          <a:prstGeom prst="rect">
            <a:avLst/>
          </a:prstGeom>
          <a:noFill/>
          <a:ln/>
        </p:spPr>
        <p:txBody>
          <a:bodyPr wrap="square" lIns="0" tIns="0" rIns="0" bIns="0" rtlCol="0" anchor="t">
            <a:normAutofit/>
          </a:bodyPr>
          <a:lstStyle/>
          <a:p>
            <a:pPr indent="0" marL="0">
              <a:buNone/>
            </a:pPr>
            <a:r>
              <a:rPr lang="en-US" sz="3400" b="1" i="1" dirty="0">
                <a:solidFill>
                  <a:schemeClr val="accent1"/>
                </a:solidFill>
                <a:latin typeface="Orbitron" pitchFamily="34" charset="0"/>
                <a:ea typeface="Orbitron" pitchFamily="34" charset="-122"/>
                <a:cs typeface="Orbitron" pitchFamily="34" charset="-120"/>
              </a:rPr>
              <a:t>A futures trade, expressed as a drawing</a:t>
            </a:r>
            <a:endParaRPr lang="en-US" sz="3400" dirty="0"/>
          </a:p>
        </p:txBody>
      </p:sp>
      <p:sp>
        <p:nvSpPr>
          <p:cNvPr id="4" name="Card shadow"/>
          <p:cNvSpPr/>
          <p:nvPr/>
        </p:nvSpPr>
        <p:spPr>
          <a:xfrm>
            <a:off x="722376" y="2414016"/>
            <a:ext cx="3474720" cy="2514600"/>
          </a:xfrm>
          <a:prstGeom prst="roundRect">
            <a:avLst>
              <a:gd name="adj" fmla="val 5091"/>
            </a:avLst>
          </a:prstGeom>
          <a:solidFill>
            <a:srgbClr val="C1FF72"/>
          </a:solidFill>
          <a:ln w="12700">
            <a:solidFill>
              <a:srgbClr val="C1FF72"/>
            </a:solidFill>
            <a:prstDash val="solid"/>
          </a:ln>
        </p:spPr>
      </p:sp>
      <p:sp>
        <p:nvSpPr>
          <p:cNvPr id="5" name="Card"/>
          <p:cNvSpPr/>
          <p:nvPr/>
        </p:nvSpPr>
        <p:spPr>
          <a:xfrm>
            <a:off x="640080" y="2331720"/>
            <a:ext cx="3474720" cy="2514600"/>
          </a:xfrm>
          <a:prstGeom prst="roundRect">
            <a:avLst>
              <a:gd name="adj" fmla="val 5091"/>
            </a:avLst>
          </a:prstGeom>
          <a:solidFill>
            <a:srgbClr val="140A5C"/>
          </a:solidFill>
          <a:ln w="31750">
            <a:solidFill>
              <a:srgbClr val="C1FF72"/>
            </a:solidFill>
          </a:ln>
        </p:spPr>
        <p:txBody>
          <a:bodyPr wrap="square" lIns="139700" tIns="177800" rIns="177800" bIns="139700" rtlCol="0" anchor="t"/>
          <a:lstStyle/>
          <a:p>
            <a:pPr indent="0" marL="0">
              <a:spcAft>
                <a:spcPts val="800"/>
              </a:spcAft>
              <a:buNone/>
            </a:pPr>
            <a:r>
              <a:rPr lang="en-US" sz="2000" dirty="0">
                <a:solidFill>
                  <a:srgbClr val="C1FF72"/>
                </a:solidFill>
                <a:latin typeface="Press Start 2P" pitchFamily="34" charset="0"/>
                <a:ea typeface="Press Start 2P" pitchFamily="34" charset="-122"/>
                <a:cs typeface="Press Start 2P" pitchFamily="34" charset="-120"/>
              </a:rPr>
              <a:t>1</a:t>
            </a:r>
            <a:endParaRPr lang="en-US" sz="1400" dirty="0"/>
          </a:p>
          <a:p>
            <a:pPr indent="0" marL="0">
              <a:spcAft>
                <a:spcPts val="600"/>
              </a:spcAft>
              <a:buNone/>
            </a:pPr>
            <a:r>
              <a:rPr lang="en-US" sz="1600" b="1" dirty="0">
                <a:solidFill>
                  <a:srgbClr val="C1FF72"/>
                </a:solidFill>
                <a:latin typeface="Orbitron" pitchFamily="34" charset="0"/>
                <a:ea typeface="Orbitron" pitchFamily="34" charset="-122"/>
                <a:cs typeface="Orbitron" pitchFamily="34" charset="-120"/>
              </a:rPr>
              <a:t>Draw</a:t>
            </a:r>
            <a:endParaRPr lang="en-US" sz="1400" dirty="0"/>
          </a:p>
          <a:p>
            <a:pPr indent="0" marL="0">
              <a:buNone/>
            </a:pPr>
            <a:r>
              <a:rPr lang="en-US" sz="1400" dirty="0">
                <a:solidFill>
                  <a:srgbClr val="B9B0E6"/>
                </a:solidFill>
                <a:latin typeface="Orbitron" pitchFamily="34" charset="0"/>
                <a:ea typeface="Orbitron" pitchFamily="34" charset="-122"/>
                <a:cs typeface="Orbitron" pitchFamily="34" charset="-120"/>
              </a:rPr>
              <a:t>Trace where you think SOL goes over the next minute, with your finger.</a:t>
            </a:r>
            <a:endParaRPr lang="en-US" sz="1400" dirty="0"/>
          </a:p>
        </p:txBody>
      </p:sp>
      <p:sp>
        <p:nvSpPr>
          <p:cNvPr id="6" name="Card shadow"/>
          <p:cNvSpPr/>
          <p:nvPr/>
        </p:nvSpPr>
        <p:spPr>
          <a:xfrm>
            <a:off x="4517136" y="2414016"/>
            <a:ext cx="3474720" cy="2514600"/>
          </a:xfrm>
          <a:prstGeom prst="roundRect">
            <a:avLst>
              <a:gd name="adj" fmla="val 5091"/>
            </a:avLst>
          </a:prstGeom>
          <a:solidFill>
            <a:srgbClr val="C1FF72"/>
          </a:solidFill>
          <a:ln w="12700">
            <a:solidFill>
              <a:srgbClr val="C1FF72"/>
            </a:solidFill>
            <a:prstDash val="solid"/>
          </a:ln>
        </p:spPr>
      </p:sp>
      <p:sp>
        <p:nvSpPr>
          <p:cNvPr id="7" name="Card"/>
          <p:cNvSpPr/>
          <p:nvPr/>
        </p:nvSpPr>
        <p:spPr>
          <a:xfrm>
            <a:off x="4434840" y="2331720"/>
            <a:ext cx="3474720" cy="2514600"/>
          </a:xfrm>
          <a:prstGeom prst="roundRect">
            <a:avLst>
              <a:gd name="adj" fmla="val 5091"/>
            </a:avLst>
          </a:prstGeom>
          <a:solidFill>
            <a:srgbClr val="140A5C"/>
          </a:solidFill>
          <a:ln w="31750">
            <a:solidFill>
              <a:srgbClr val="C1FF72"/>
            </a:solidFill>
          </a:ln>
        </p:spPr>
        <p:txBody>
          <a:bodyPr wrap="square" lIns="139700" tIns="177800" rIns="177800" bIns="139700" rtlCol="0" anchor="t"/>
          <a:lstStyle/>
          <a:p>
            <a:pPr indent="0" marL="0">
              <a:spcAft>
                <a:spcPts val="800"/>
              </a:spcAft>
              <a:buNone/>
            </a:pPr>
            <a:r>
              <a:rPr lang="en-US" sz="2000" dirty="0">
                <a:solidFill>
                  <a:srgbClr val="C1FF72"/>
                </a:solidFill>
                <a:latin typeface="Press Start 2P" pitchFamily="34" charset="0"/>
                <a:ea typeface="Press Start 2P" pitchFamily="34" charset="-122"/>
                <a:cs typeface="Press Start 2P" pitchFamily="34" charset="-120"/>
              </a:rPr>
              <a:t>2</a:t>
            </a:r>
            <a:endParaRPr lang="en-US" sz="1400" dirty="0"/>
          </a:p>
          <a:p>
            <a:pPr indent="0" marL="0">
              <a:spcAft>
                <a:spcPts val="600"/>
              </a:spcAft>
              <a:buNone/>
            </a:pPr>
            <a:r>
              <a:rPr lang="en-US" sz="1600" b="1" dirty="0">
                <a:solidFill>
                  <a:srgbClr val="C1FF72"/>
                </a:solidFill>
                <a:latin typeface="Orbitron" pitchFamily="34" charset="0"/>
                <a:ea typeface="Orbitron" pitchFamily="34" charset="-122"/>
                <a:cs typeface="Orbitron" pitchFamily="34" charset="-120"/>
              </a:rPr>
              <a:t>Stake</a:t>
            </a:r>
            <a:endParaRPr lang="en-US" sz="1400" dirty="0"/>
          </a:p>
          <a:p>
            <a:pPr indent="0" marL="0">
              <a:buNone/>
            </a:pPr>
            <a:r>
              <a:rPr lang="en-US" sz="1400" dirty="0">
                <a:solidFill>
                  <a:srgbClr val="B9B0E6"/>
                </a:solidFill>
                <a:latin typeface="Orbitron" pitchFamily="34" charset="0"/>
                <a:ea typeface="Orbitron" pitchFamily="34" charset="-122"/>
                <a:cs typeface="Orbitron" pitchFamily="34" charset="-120"/>
              </a:rPr>
              <a:t>Pick 0.01 SOL or more and leverage up to 100x. Approve once in your wallet.</a:t>
            </a:r>
            <a:endParaRPr lang="en-US" sz="1400" dirty="0"/>
          </a:p>
        </p:txBody>
      </p:sp>
      <p:sp>
        <p:nvSpPr>
          <p:cNvPr id="8" name="Card shadow"/>
          <p:cNvSpPr/>
          <p:nvPr/>
        </p:nvSpPr>
        <p:spPr>
          <a:xfrm>
            <a:off x="8311896" y="2414016"/>
            <a:ext cx="3474720" cy="2514600"/>
          </a:xfrm>
          <a:prstGeom prst="roundRect">
            <a:avLst>
              <a:gd name="adj" fmla="val 5091"/>
            </a:avLst>
          </a:prstGeom>
          <a:solidFill>
            <a:srgbClr val="C1FF72"/>
          </a:solidFill>
          <a:ln w="12700">
            <a:solidFill>
              <a:srgbClr val="C1FF72"/>
            </a:solidFill>
            <a:prstDash val="solid"/>
          </a:ln>
        </p:spPr>
      </p:sp>
      <p:sp>
        <p:nvSpPr>
          <p:cNvPr id="9" name="Card"/>
          <p:cNvSpPr/>
          <p:nvPr/>
        </p:nvSpPr>
        <p:spPr>
          <a:xfrm>
            <a:off x="8229600" y="2331720"/>
            <a:ext cx="3474720" cy="2514600"/>
          </a:xfrm>
          <a:prstGeom prst="roundRect">
            <a:avLst>
              <a:gd name="adj" fmla="val 5091"/>
            </a:avLst>
          </a:prstGeom>
          <a:solidFill>
            <a:srgbClr val="140A5C"/>
          </a:solidFill>
          <a:ln w="31750">
            <a:solidFill>
              <a:srgbClr val="C1FF72"/>
            </a:solidFill>
          </a:ln>
        </p:spPr>
        <p:txBody>
          <a:bodyPr wrap="square" lIns="139700" tIns="177800" rIns="177800" bIns="139700" rtlCol="0" anchor="t"/>
          <a:lstStyle/>
          <a:p>
            <a:pPr indent="0" marL="0">
              <a:spcAft>
                <a:spcPts val="800"/>
              </a:spcAft>
              <a:buNone/>
            </a:pPr>
            <a:r>
              <a:rPr lang="en-US" sz="2000" dirty="0">
                <a:solidFill>
                  <a:srgbClr val="C1FF72"/>
                </a:solidFill>
                <a:latin typeface="Press Start 2P" pitchFamily="34" charset="0"/>
                <a:ea typeface="Press Start 2P" pitchFamily="34" charset="-122"/>
                <a:cs typeface="Press Start 2P" pitchFamily="34" charset="-120"/>
              </a:rPr>
              <a:t>3</a:t>
            </a:r>
            <a:endParaRPr lang="en-US" sz="1400" dirty="0"/>
          </a:p>
          <a:p>
            <a:pPr indent="0" marL="0">
              <a:spcAft>
                <a:spcPts val="600"/>
              </a:spcAft>
              <a:buNone/>
            </a:pPr>
            <a:r>
              <a:rPr lang="en-US" sz="1600" b="1" dirty="0">
                <a:solidFill>
                  <a:srgbClr val="C1FF72"/>
                </a:solidFill>
                <a:latin typeface="Orbitron" pitchFamily="34" charset="0"/>
                <a:ea typeface="Orbitron" pitchFamily="34" charset="-122"/>
                <a:cs typeface="Orbitron" pitchFamily="34" charset="-120"/>
              </a:rPr>
              <a:t>Score</a:t>
            </a:r>
            <a:endParaRPr lang="en-US" sz="1400" dirty="0"/>
          </a:p>
          <a:p>
            <a:pPr indent="0" marL="0">
              <a:buNone/>
            </a:pPr>
            <a:r>
              <a:rPr lang="en-US" sz="1400" dirty="0">
                <a:solidFill>
                  <a:srgbClr val="B9B0E6"/>
                </a:solidFill>
                <a:latin typeface="Orbitron" pitchFamily="34" charset="0"/>
                <a:ea typeface="Orbitron" pitchFamily="34" charset="-122"/>
                <a:cs typeface="Orbitron" pitchFamily="34" charset="-120"/>
              </a:rPr>
              <a:t>Every second's move is checked against your line. Call the direction right more than half the time and you profit.</a:t>
            </a:r>
            <a:endParaRPr lang="en-US" sz="1400" dirty="0"/>
          </a:p>
        </p:txBody>
      </p:sp>
      <p:sp>
        <p:nvSpPr>
          <p:cNvPr id="10" name="Takeaway"/>
          <p:cNvSpPr txBox="1"/>
          <p:nvPr/>
        </p:nvSpPr>
        <p:spPr>
          <a:xfrm>
            <a:off x="640080" y="5212080"/>
            <a:ext cx="9875520" cy="731520"/>
          </a:xfrm>
          <a:prstGeom prst="rect">
            <a:avLst/>
          </a:prstGeom>
          <a:noFill/>
          <a:ln/>
        </p:spPr>
        <p:txBody>
          <a:bodyPr wrap="square" lIns="0" tIns="0" rIns="0" bIns="0" rtlCol="0" anchor="t"/>
          <a:lstStyle/>
          <a:p>
            <a:pPr indent="0" marL="0">
              <a:buNone/>
            </a:pPr>
            <a:r>
              <a:rPr lang="en-US" sz="1600" dirty="0">
                <a:solidFill>
                  <a:srgbClr val="B9B0E6"/>
                </a:solidFill>
                <a:latin typeface="Orbitron" pitchFamily="34" charset="0"/>
                <a:ea typeface="Orbitron" pitchFamily="34" charset="-122"/>
                <a:cs typeface="Orbitron" pitchFamily="34" charset="-120"/>
              </a:rPr>
              <a:t>No order types, no liquidation price, no guessing where to click. One gesture, one minute, one number.</a:t>
            </a:r>
            <a:endParaRPr lang="en-US" sz="1600" dirty="0"/>
          </a:p>
        </p:txBody>
      </p:sp>
      <p:sp>
        <p:nvSpPr>
          <p:cNvPr id="25" name="Slide Number Placeholder 0"/>
          <p:cNvSpPr>
            <a:spLocks noGrp="1"/>
          </p:cNvSpPr>
          <p:nvPr>
            <p:ph type="sldNum" sz="quarter" idx="4294967295"/>
          </p:nvPr>
        </p:nvSpPr>
        <p:spPr>
          <a:xfrm>
            <a:off x="1115568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1FF72"/>
                </a:solidFill>
                <a:latin typeface="Press Start 2P"/>
                <a:ea typeface="Press Start 2P"/>
                <a:cs typeface="Press Start 2P"/>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ag"/>
          <p:cNvSpPr txBox="1"/>
          <p:nvPr/>
        </p:nvSpPr>
        <p:spPr>
          <a:xfrm>
            <a:off x="640080" y="502920"/>
            <a:ext cx="10911535" cy="274320"/>
          </a:xfrm>
          <a:prstGeom prst="rect">
            <a:avLst/>
          </a:prstGeom>
          <a:noFill/>
          <a:ln/>
        </p:spPr>
        <p:txBody>
          <a:bodyPr wrap="square" lIns="0" tIns="0" rIns="0" bIns="0" rtlCol="0" anchor="ctr"/>
          <a:lstStyle/>
          <a:p>
            <a:pPr indent="0" marL="0">
              <a:buNone/>
            </a:pPr>
            <a:r>
              <a:rPr lang="en-US" sz="1000" dirty="0">
                <a:solidFill>
                  <a:schemeClr val="accent1"/>
                </a:solidFill>
                <a:latin typeface="Press Start 2P" pitchFamily="34" charset="0"/>
                <a:ea typeface="Press Start 2P" pitchFamily="34" charset="-122"/>
                <a:cs typeface="Press Start 2P" pitchFamily="34" charset="-120"/>
              </a:rPr>
              <a:t>THE APP / CAPTURED ON A PHONE, DEVNET</a:t>
            </a:r>
            <a:endParaRPr lang="en-US" sz="1000" dirty="0"/>
          </a:p>
        </p:txBody>
      </p:sp>
      <p:sp>
        <p:nvSpPr>
          <p:cNvPr id="3" name="Title"/>
          <p:cNvSpPr txBox="1"/>
          <p:nvPr/>
        </p:nvSpPr>
        <p:spPr>
          <a:xfrm>
            <a:off x="640080" y="868680"/>
            <a:ext cx="10911535" cy="1005840"/>
          </a:xfrm>
          <a:prstGeom prst="rect">
            <a:avLst/>
          </a:prstGeom>
          <a:noFill/>
          <a:ln/>
        </p:spPr>
        <p:txBody>
          <a:bodyPr wrap="square" lIns="0" tIns="0" rIns="0" bIns="0" rtlCol="0" anchor="t">
            <a:normAutofit/>
          </a:bodyPr>
          <a:lstStyle/>
          <a:p>
            <a:pPr indent="0" marL="0">
              <a:buNone/>
            </a:pPr>
            <a:r>
              <a:rPr lang="en-US" sz="3400" b="1" i="1" dirty="0">
                <a:solidFill>
                  <a:schemeClr val="accent1"/>
                </a:solidFill>
                <a:latin typeface="Orbitron" pitchFamily="34" charset="0"/>
                <a:ea typeface="Orbitron" pitchFamily="34" charset="-122"/>
                <a:cs typeface="Orbitron" pitchFamily="34" charset="-120"/>
              </a:rPr>
              <a:t>Draw. Watch. Settle</a:t>
            </a:r>
            <a:endParaRPr lang="en-US" sz="3400" dirty="0"/>
          </a:p>
        </p:txBody>
      </p:sp>
      <p:sp>
        <p:nvSpPr>
          <p:cNvPr id="4" name="Phone frame"/>
          <p:cNvSpPr/>
          <p:nvPr/>
        </p:nvSpPr>
        <p:spPr>
          <a:xfrm>
            <a:off x="2210224" y="1801368"/>
            <a:ext cx="2233496" cy="3767328"/>
          </a:xfrm>
          <a:prstGeom prst="roundRect">
            <a:avLst>
              <a:gd name="adj" fmla="val 4094"/>
            </a:avLst>
          </a:prstGeom>
          <a:solidFill>
            <a:srgbClr val="0A0014"/>
          </a:solidFill>
          <a:ln w="38100">
            <a:solidFill>
              <a:srgbClr val="C1FF72"/>
            </a:solidFill>
            <a:prstDash val="solid"/>
          </a:ln>
        </p:spPr>
      </p:sp>
      <p:pic>
        <p:nvPicPr>
          <p:cNvPr id="5" name="Screenshot" descr="Drawing pad, time chips, stake and the SCRAWL lever">    </p:cNvPr>
          <p:cNvPicPr>
            <a:picLocks noChangeAspect="1"/>
          </p:cNvPicPr>
          <p:nvPr/>
        </p:nvPicPr>
        <p:blipFill>
          <a:blip r:embed="rId1"/>
          <a:stretch>
            <a:fillRect/>
          </a:stretch>
        </p:blipFill>
        <p:spPr>
          <a:xfrm>
            <a:off x="2265088" y="1856232"/>
            <a:ext cx="2123768" cy="3657600"/>
          </a:xfrm>
          <a:prstGeom prst="rect">
            <a:avLst/>
          </a:prstGeom>
        </p:spPr>
      </p:pic>
      <p:sp>
        <p:nvSpPr>
          <p:cNvPr id="6" name="Caption"/>
          <p:cNvSpPr txBox="1"/>
          <p:nvPr/>
        </p:nvSpPr>
        <p:spPr>
          <a:xfrm>
            <a:off x="1899328" y="5669280"/>
            <a:ext cx="2855288" cy="365760"/>
          </a:xfrm>
          <a:prstGeom prst="rect">
            <a:avLst/>
          </a:prstGeom>
          <a:noFill/>
          <a:ln/>
        </p:spPr>
        <p:txBody>
          <a:bodyPr wrap="square" lIns="0" tIns="0" rIns="0" bIns="0" rtlCol="0" anchor="ctr"/>
          <a:lstStyle/>
          <a:p>
            <a:pPr algn="ctr" indent="0" marL="0">
              <a:buNone/>
            </a:pPr>
            <a:r>
              <a:rPr lang="en-US" sz="1000" dirty="0">
                <a:solidFill>
                  <a:srgbClr val="C1FF72"/>
                </a:solidFill>
                <a:latin typeface="Press Start 2P" pitchFamily="34" charset="0"/>
                <a:ea typeface="Press Start 2P" pitchFamily="34" charset="-122"/>
                <a:cs typeface="Press Start 2P" pitchFamily="34" charset="-120"/>
              </a:rPr>
              <a:t>DRAW &amp; PULL</a:t>
            </a:r>
            <a:endParaRPr lang="en-US" sz="1000" dirty="0"/>
          </a:p>
        </p:txBody>
      </p:sp>
      <p:sp>
        <p:nvSpPr>
          <p:cNvPr id="7" name="Phone frame"/>
          <p:cNvSpPr/>
          <p:nvPr/>
        </p:nvSpPr>
        <p:spPr>
          <a:xfrm>
            <a:off x="5156952" y="1801368"/>
            <a:ext cx="2055643" cy="3767328"/>
          </a:xfrm>
          <a:prstGeom prst="roundRect">
            <a:avLst>
              <a:gd name="adj" fmla="val 4448"/>
            </a:avLst>
          </a:prstGeom>
          <a:solidFill>
            <a:srgbClr val="0A0014"/>
          </a:solidFill>
          <a:ln w="38100">
            <a:solidFill>
              <a:srgbClr val="C1FF72"/>
            </a:solidFill>
            <a:prstDash val="solid"/>
          </a:ln>
        </p:spPr>
      </p:sp>
      <p:pic>
        <p:nvPicPr>
          <p:cNvPr id="8" name="Screenshot" descr="Live round: your dotted line against the real price">    </p:cNvPr>
          <p:cNvPicPr>
            <a:picLocks noChangeAspect="1"/>
          </p:cNvPicPr>
          <p:nvPr/>
        </p:nvPicPr>
        <p:blipFill>
          <a:blip r:embed="rId2"/>
          <a:stretch>
            <a:fillRect/>
          </a:stretch>
        </p:blipFill>
        <p:spPr>
          <a:xfrm>
            <a:off x="5211816" y="1856232"/>
            <a:ext cx="1945915" cy="3657600"/>
          </a:xfrm>
          <a:prstGeom prst="rect">
            <a:avLst/>
          </a:prstGeom>
        </p:spPr>
      </p:pic>
      <p:sp>
        <p:nvSpPr>
          <p:cNvPr id="9" name="Caption"/>
          <p:cNvSpPr txBox="1"/>
          <p:nvPr/>
        </p:nvSpPr>
        <p:spPr>
          <a:xfrm>
            <a:off x="4846056" y="5669280"/>
            <a:ext cx="2677435" cy="365760"/>
          </a:xfrm>
          <a:prstGeom prst="rect">
            <a:avLst/>
          </a:prstGeom>
          <a:noFill/>
          <a:ln/>
        </p:spPr>
        <p:txBody>
          <a:bodyPr wrap="square" lIns="0" tIns="0" rIns="0" bIns="0" rtlCol="0" anchor="ctr"/>
          <a:lstStyle/>
          <a:p>
            <a:pPr algn="ctr" indent="0" marL="0">
              <a:buNone/>
            </a:pPr>
            <a:r>
              <a:rPr lang="en-US" sz="1000" dirty="0">
                <a:solidFill>
                  <a:srgbClr val="C1FF72"/>
                </a:solidFill>
                <a:latin typeface="Press Start 2P" pitchFamily="34" charset="0"/>
                <a:ea typeface="Press Start 2P" pitchFamily="34" charset="-122"/>
                <a:cs typeface="Press Start 2P" pitchFamily="34" charset="-120"/>
              </a:rPr>
              <a:t>WATCH THE CLOCK</a:t>
            </a:r>
            <a:endParaRPr lang="en-US" sz="1000" dirty="0"/>
          </a:p>
        </p:txBody>
      </p:sp>
      <p:sp>
        <p:nvSpPr>
          <p:cNvPr id="10" name="Phone frame"/>
          <p:cNvSpPr/>
          <p:nvPr/>
        </p:nvSpPr>
        <p:spPr>
          <a:xfrm>
            <a:off x="7925827" y="1801368"/>
            <a:ext cx="2055643" cy="3767328"/>
          </a:xfrm>
          <a:prstGeom prst="roundRect">
            <a:avLst>
              <a:gd name="adj" fmla="val 4448"/>
            </a:avLst>
          </a:prstGeom>
          <a:solidFill>
            <a:srgbClr val="0A0014"/>
          </a:solidFill>
          <a:ln w="38100">
            <a:solidFill>
              <a:srgbClr val="C1FF72"/>
            </a:solidFill>
            <a:prstDash val="solid"/>
          </a:ln>
        </p:spPr>
      </p:sp>
      <p:pic>
        <p:nvPicPr>
          <p:cNvPr id="11" name="Screenshot" descr="Result with accuracy, payout and transaction links">    </p:cNvPr>
          <p:cNvPicPr>
            <a:picLocks noChangeAspect="1"/>
          </p:cNvPicPr>
          <p:nvPr/>
        </p:nvPicPr>
        <p:blipFill>
          <a:blip r:embed="rId3"/>
          <a:stretch>
            <a:fillRect/>
          </a:stretch>
        </p:blipFill>
        <p:spPr>
          <a:xfrm>
            <a:off x="7980691" y="1856232"/>
            <a:ext cx="1945915" cy="3657600"/>
          </a:xfrm>
          <a:prstGeom prst="rect">
            <a:avLst/>
          </a:prstGeom>
        </p:spPr>
      </p:pic>
      <p:sp>
        <p:nvSpPr>
          <p:cNvPr id="12" name="Caption"/>
          <p:cNvSpPr txBox="1"/>
          <p:nvPr/>
        </p:nvSpPr>
        <p:spPr>
          <a:xfrm>
            <a:off x="7614931" y="5669280"/>
            <a:ext cx="2677435" cy="365760"/>
          </a:xfrm>
          <a:prstGeom prst="rect">
            <a:avLst/>
          </a:prstGeom>
          <a:noFill/>
          <a:ln/>
        </p:spPr>
        <p:txBody>
          <a:bodyPr wrap="square" lIns="0" tIns="0" rIns="0" bIns="0" rtlCol="0" anchor="ctr"/>
          <a:lstStyle/>
          <a:p>
            <a:pPr algn="ctr" indent="0" marL="0">
              <a:buNone/>
            </a:pPr>
            <a:r>
              <a:rPr lang="en-US" sz="1000" dirty="0">
                <a:solidFill>
                  <a:srgbClr val="C1FF72"/>
                </a:solidFill>
                <a:latin typeface="Press Start 2P" pitchFamily="34" charset="0"/>
                <a:ea typeface="Press Start 2P" pitchFamily="34" charset="-122"/>
                <a:cs typeface="Press Start 2P" pitchFamily="34" charset="-120"/>
              </a:rPr>
              <a:t>SETTLED ON-CHAIN</a:t>
            </a:r>
            <a:endParaRPr lang="en-US" sz="1000" dirty="0"/>
          </a:p>
        </p:txBody>
      </p:sp>
      <p:sp>
        <p:nvSpPr>
          <p:cNvPr id="25" name="Slide Number Placeholder 0"/>
          <p:cNvSpPr>
            <a:spLocks noGrp="1"/>
          </p:cNvSpPr>
          <p:nvPr>
            <p:ph type="sldNum" sz="quarter" idx="4294967295"/>
          </p:nvPr>
        </p:nvSpPr>
        <p:spPr>
          <a:xfrm>
            <a:off x="1115568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1FF72"/>
                </a:solidFill>
                <a:latin typeface="Press Start 2P"/>
                <a:ea typeface="Press Start 2P"/>
                <a:cs typeface="Press Start 2P"/>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ag"/>
          <p:cNvSpPr txBox="1"/>
          <p:nvPr/>
        </p:nvSpPr>
        <p:spPr>
          <a:xfrm>
            <a:off x="640080" y="502920"/>
            <a:ext cx="10911535" cy="274320"/>
          </a:xfrm>
          <a:prstGeom prst="rect">
            <a:avLst/>
          </a:prstGeom>
          <a:noFill/>
          <a:ln/>
        </p:spPr>
        <p:txBody>
          <a:bodyPr wrap="square" lIns="0" tIns="0" rIns="0" bIns="0" rtlCol="0" anchor="ctr"/>
          <a:lstStyle/>
          <a:p>
            <a:pPr indent="0" marL="0">
              <a:buNone/>
            </a:pPr>
            <a:r>
              <a:rPr lang="en-US" sz="1000" dirty="0">
                <a:solidFill>
                  <a:schemeClr val="accent1"/>
                </a:solidFill>
                <a:latin typeface="Press Start 2P" pitchFamily="34" charset="0"/>
                <a:ea typeface="Press Start 2P" pitchFamily="34" charset="-122"/>
                <a:cs typeface="Press Start 2P" pitchFamily="34" charset="-120"/>
              </a:rPr>
              <a:t>HOW A ROUND IS SCORED</a:t>
            </a:r>
            <a:endParaRPr lang="en-US" sz="1000" dirty="0"/>
          </a:p>
        </p:txBody>
      </p:sp>
      <p:sp>
        <p:nvSpPr>
          <p:cNvPr id="3" name="Title"/>
          <p:cNvSpPr txBox="1"/>
          <p:nvPr/>
        </p:nvSpPr>
        <p:spPr>
          <a:xfrm>
            <a:off x="640080" y="868680"/>
            <a:ext cx="10911535" cy="1005840"/>
          </a:xfrm>
          <a:prstGeom prst="rect">
            <a:avLst/>
          </a:prstGeom>
          <a:noFill/>
          <a:ln/>
        </p:spPr>
        <p:txBody>
          <a:bodyPr wrap="square" lIns="0" tIns="0" rIns="0" bIns="0" rtlCol="0" anchor="t">
            <a:normAutofit/>
          </a:bodyPr>
          <a:lstStyle/>
          <a:p>
            <a:pPr indent="0" marL="0">
              <a:buNone/>
            </a:pPr>
            <a:r>
              <a:rPr lang="en-US" sz="3400" b="1" i="1" dirty="0">
                <a:solidFill>
                  <a:schemeClr val="accent1"/>
                </a:solidFill>
                <a:latin typeface="Orbitron" pitchFamily="34" charset="0"/>
                <a:ea typeface="Orbitron" pitchFamily="34" charset="-122"/>
                <a:cs typeface="Orbitron" pitchFamily="34" charset="-120"/>
              </a:rPr>
              <a:t>Direction, second by second</a:t>
            </a:r>
            <a:endParaRPr lang="en-US" sz="3400" dirty="0"/>
          </a:p>
        </p:txBody>
      </p:sp>
      <p:sp>
        <p:nvSpPr>
          <p:cNvPr id="4" name="Explanation"/>
          <p:cNvSpPr txBox="1"/>
          <p:nvPr/>
        </p:nvSpPr>
        <p:spPr>
          <a:xfrm>
            <a:off x="640080" y="1920240"/>
            <a:ext cx="5760720" cy="1371600"/>
          </a:xfrm>
          <a:prstGeom prst="rect">
            <a:avLst/>
          </a:prstGeom>
          <a:noFill/>
          <a:ln/>
        </p:spPr>
        <p:txBody>
          <a:bodyPr wrap="square" lIns="0" tIns="0" rIns="0" bIns="0" rtlCol="0" anchor="t"/>
          <a:lstStyle/>
          <a:p>
            <a:pPr indent="0" marL="0">
              <a:buNone/>
            </a:pPr>
            <a:r>
              <a:rPr lang="en-US" sz="1400" dirty="0">
                <a:solidFill>
                  <a:srgbClr val="F4F0FF"/>
                </a:solidFill>
                <a:latin typeface="Orbitron" pitchFamily="34" charset="0"/>
                <a:ea typeface="Orbitron" pitchFamily="34" charset="-122"/>
                <a:cs typeface="Orbitron" pitchFamily="34" charset="-120"/>
              </a:rPr>
              <a:t>The round has 60 samples, one per second. At each step we compare which way your line moved with which way the real price moved. Steps where the price did not tick are skipped.</a:t>
            </a:r>
            <a:endParaRPr lang="en-US" sz="1400" dirty="0"/>
          </a:p>
        </p:txBody>
      </p:sp>
      <p:sp>
        <p:nvSpPr>
          <p:cNvPr id="5" name="Card shadow"/>
          <p:cNvSpPr/>
          <p:nvPr/>
        </p:nvSpPr>
        <p:spPr>
          <a:xfrm>
            <a:off x="722376" y="3511296"/>
            <a:ext cx="5760720" cy="1828800"/>
          </a:xfrm>
          <a:prstGeom prst="roundRect">
            <a:avLst>
              <a:gd name="adj" fmla="val 7000"/>
            </a:avLst>
          </a:prstGeom>
          <a:solidFill>
            <a:srgbClr val="1800AD"/>
          </a:solidFill>
          <a:ln w="12700">
            <a:solidFill>
              <a:srgbClr val="1800AD"/>
            </a:solidFill>
            <a:prstDash val="solid"/>
          </a:ln>
        </p:spPr>
      </p:sp>
      <p:sp>
        <p:nvSpPr>
          <p:cNvPr id="6" name="Formula"/>
          <p:cNvSpPr/>
          <p:nvPr/>
        </p:nvSpPr>
        <p:spPr>
          <a:xfrm>
            <a:off x="640080" y="3429000"/>
            <a:ext cx="5760720" cy="1828800"/>
          </a:xfrm>
          <a:prstGeom prst="roundRect">
            <a:avLst>
              <a:gd name="adj" fmla="val 7000"/>
            </a:avLst>
          </a:prstGeom>
          <a:solidFill>
            <a:srgbClr val="0A0014"/>
          </a:solidFill>
          <a:ln w="31750">
            <a:solidFill>
              <a:srgbClr val="C1FF72"/>
            </a:solidFill>
          </a:ln>
        </p:spPr>
        <p:txBody>
          <a:bodyPr wrap="square" lIns="139700" tIns="177800" rIns="177800" bIns="139700" rtlCol="0" anchor="t"/>
          <a:lstStyle/>
          <a:p>
            <a:pPr indent="0" marL="0">
              <a:spcAft>
                <a:spcPts val="900"/>
              </a:spcAft>
              <a:buNone/>
            </a:pPr>
            <a:r>
              <a:rPr lang="en-US" sz="1000" dirty="0">
                <a:solidFill>
                  <a:srgbClr val="F4F0FF"/>
                </a:solidFill>
                <a:latin typeface="Press Start 2P" pitchFamily="34" charset="0"/>
                <a:ea typeface="Press Start 2P" pitchFamily="34" charset="-122"/>
                <a:cs typeface="Press Start 2P" pitchFamily="34" charset="-120"/>
              </a:rPr>
              <a:t>accuracy = right calls / compared steps</a:t>
            </a:r>
            <a:endParaRPr lang="en-US" sz="1400" dirty="0"/>
          </a:p>
          <a:p>
            <a:pPr indent="0" marL="0">
              <a:spcAft>
                <a:spcPts val="900"/>
              </a:spcAft>
              <a:buNone/>
            </a:pPr>
            <a:r>
              <a:rPr lang="en-US" sz="1000" dirty="0">
                <a:solidFill>
                  <a:srgbClr val="C1FF72"/>
                </a:solidFill>
                <a:latin typeface="Press Start 2P" pitchFamily="34" charset="0"/>
                <a:ea typeface="Press Start 2P" pitchFamily="34" charset="-122"/>
                <a:cs typeface="Press Start 2P" pitchFamily="34" charset="-120"/>
              </a:rPr>
              <a:t>PnL = (2 x accuracy - 1) x max profit</a:t>
            </a:r>
            <a:endParaRPr lang="en-US" sz="1400" dirty="0"/>
          </a:p>
          <a:p>
            <a:pPr indent="0" marL="0">
              <a:buNone/>
            </a:pPr>
            <a:r>
              <a:rPr lang="en-US" sz="1000" dirty="0">
                <a:solidFill>
                  <a:srgbClr val="F4F0FF"/>
                </a:solidFill>
                <a:latin typeface="Press Start 2P" pitchFamily="34" charset="0"/>
                <a:ea typeface="Press Start 2P" pitchFamily="34" charset="-122"/>
                <a:cs typeface="Press Start 2P" pitchFamily="34" charset="-120"/>
              </a:rPr>
              <a:t>max profit = |price move| x stake / start price x leverage</a:t>
            </a:r>
            <a:endParaRPr lang="en-US" sz="1400" dirty="0"/>
          </a:p>
        </p:txBody>
      </p:sp>
      <p:sp>
        <p:nvSpPr>
          <p:cNvPr id="7" name="Note"/>
          <p:cNvSpPr txBox="1"/>
          <p:nvPr/>
        </p:nvSpPr>
        <p:spPr>
          <a:xfrm>
            <a:off x="640080" y="5532120"/>
            <a:ext cx="5760720" cy="365760"/>
          </a:xfrm>
          <a:prstGeom prst="rect">
            <a:avLst/>
          </a:prstGeom>
          <a:noFill/>
          <a:ln/>
        </p:spPr>
        <p:txBody>
          <a:bodyPr wrap="square" lIns="0" tIns="0" rIns="0" bIns="0" rtlCol="0" anchor="ctr"/>
          <a:lstStyle/>
          <a:p>
            <a:pPr indent="0" marL="0">
              <a:buNone/>
            </a:pPr>
            <a:r>
              <a:rPr lang="en-US" sz="1400" dirty="0">
                <a:solidFill>
                  <a:srgbClr val="B9B0E6"/>
                </a:solidFill>
                <a:latin typeface="Orbitron" pitchFamily="34" charset="0"/>
                <a:ea typeface="Orbitron" pitchFamily="34" charset="-122"/>
                <a:cs typeface="Orbitron" pitchFamily="34" charset="-120"/>
              </a:rPr>
              <a:t>Loss is floored at your stake. Fee is 2% of profit only.</a:t>
            </a:r>
            <a:endParaRPr lang="en-US" sz="1400" dirty="0"/>
          </a:p>
        </p:txBody>
      </p:sp>
      <p:sp>
        <p:nvSpPr>
          <p:cNvPr id="8" name="Card shadow"/>
          <p:cNvSpPr/>
          <p:nvPr/>
        </p:nvSpPr>
        <p:spPr>
          <a:xfrm>
            <a:off x="6986016" y="2002536"/>
            <a:ext cx="4663440" cy="2926080"/>
          </a:xfrm>
          <a:prstGeom prst="roundRect">
            <a:avLst>
              <a:gd name="adj" fmla="val 4375"/>
            </a:avLst>
          </a:prstGeom>
          <a:solidFill>
            <a:srgbClr val="C1FF72"/>
          </a:solidFill>
          <a:ln w="12700">
            <a:solidFill>
              <a:srgbClr val="C1FF72"/>
            </a:solidFill>
            <a:prstDash val="solid"/>
          </a:ln>
        </p:spPr>
      </p:sp>
      <p:sp>
        <p:nvSpPr>
          <p:cNvPr id="9" name="Example"/>
          <p:cNvSpPr/>
          <p:nvPr/>
        </p:nvSpPr>
        <p:spPr>
          <a:xfrm>
            <a:off x="6903720" y="1920240"/>
            <a:ext cx="4663440" cy="2926080"/>
          </a:xfrm>
          <a:prstGeom prst="roundRect">
            <a:avLst>
              <a:gd name="adj" fmla="val 4375"/>
            </a:avLst>
          </a:prstGeom>
          <a:solidFill>
            <a:srgbClr val="140A5C"/>
          </a:solidFill>
          <a:ln w="31750">
            <a:solidFill>
              <a:srgbClr val="C1FF72"/>
            </a:solidFill>
          </a:ln>
        </p:spPr>
        <p:txBody>
          <a:bodyPr wrap="square" lIns="139700" tIns="177800" rIns="177800" bIns="139700" rtlCol="0" anchor="t"/>
          <a:lstStyle/>
          <a:p>
            <a:pPr indent="0" marL="0">
              <a:spcAft>
                <a:spcPts val="1000"/>
              </a:spcAft>
              <a:buNone/>
            </a:pPr>
            <a:r>
              <a:rPr lang="en-US" sz="1000" dirty="0">
                <a:solidFill>
                  <a:srgbClr val="C1FF72"/>
                </a:solidFill>
                <a:latin typeface="Press Start 2P" pitchFamily="34" charset="0"/>
                <a:ea typeface="Press Start 2P" pitchFamily="34" charset="-122"/>
                <a:cs typeface="Press Start 2P" pitchFamily="34" charset="-120"/>
              </a:rPr>
              <a:t>EXAMPLE / ILLUSTRATIVE</a:t>
            </a:r>
            <a:endParaRPr lang="en-US" sz="1400" dirty="0"/>
          </a:p>
          <a:p>
            <a:pPr indent="0" marL="0">
              <a:buNone/>
            </a:pPr>
            <a:r>
              <a:rPr lang="en-US" sz="1400" b="1" dirty="0">
                <a:solidFill>
                  <a:srgbClr val="C1FF72"/>
                </a:solidFill>
                <a:latin typeface="Orbitron" pitchFamily="34" charset="0"/>
                <a:ea typeface="Orbitron" pitchFamily="34" charset="-122"/>
                <a:cs typeface="Orbitron" pitchFamily="34" charset="-120"/>
              </a:rPr>
              <a:t>Stake   </a:t>
            </a:r>
            <a:pPr indent="0" marL="0">
              <a:buNone/>
            </a:pPr>
            <a:r>
              <a:rPr lang="en-US" sz="1400" dirty="0">
                <a:solidFill>
                  <a:srgbClr val="F4F0FF"/>
                </a:solidFill>
                <a:latin typeface="Orbitron" pitchFamily="34" charset="0"/>
                <a:ea typeface="Orbitron" pitchFamily="34" charset="-122"/>
                <a:cs typeface="Orbitron" pitchFamily="34" charset="-120"/>
              </a:rPr>
              <a:t>0.50 SOL at 10x</a:t>
            </a:r>
            <a:endParaRPr lang="en-US" sz="1400" dirty="0"/>
          </a:p>
          <a:p>
            <a:pPr indent="0" marL="0">
              <a:buNone/>
            </a:pPr>
            <a:r>
              <a:rPr lang="en-US" sz="1400" b="1" dirty="0">
                <a:solidFill>
                  <a:srgbClr val="C1FF72"/>
                </a:solidFill>
                <a:latin typeface="Orbitron" pitchFamily="34" charset="0"/>
                <a:ea typeface="Orbitron" pitchFamily="34" charset="-122"/>
                <a:cs typeface="Orbitron" pitchFamily="34" charset="-120"/>
              </a:rPr>
              <a:t>SOL move   </a:t>
            </a:r>
            <a:pPr indent="0" marL="0">
              <a:buNone/>
            </a:pPr>
            <a:r>
              <a:rPr lang="en-US" sz="1400" dirty="0">
                <a:solidFill>
                  <a:srgbClr val="F4F0FF"/>
                </a:solidFill>
                <a:latin typeface="Orbitron" pitchFamily="34" charset="0"/>
                <a:ea typeface="Orbitron" pitchFamily="34" charset="-122"/>
                <a:cs typeface="Orbitron" pitchFamily="34" charset="-120"/>
              </a:rPr>
              <a:t>$109.00 to $109.05</a:t>
            </a:r>
            <a:endParaRPr lang="en-US" sz="1400" dirty="0"/>
          </a:p>
          <a:p>
            <a:pPr indent="0" marL="0">
              <a:buNone/>
            </a:pPr>
            <a:r>
              <a:rPr lang="en-US" sz="1400" b="1" dirty="0">
                <a:solidFill>
                  <a:srgbClr val="C1FF72"/>
                </a:solidFill>
                <a:latin typeface="Orbitron" pitchFamily="34" charset="0"/>
                <a:ea typeface="Orbitron" pitchFamily="34" charset="-122"/>
                <a:cs typeface="Orbitron" pitchFamily="34" charset="-120"/>
              </a:rPr>
              <a:t>Max profit   </a:t>
            </a:r>
            <a:pPr indent="0" marL="0">
              <a:buNone/>
            </a:pPr>
            <a:r>
              <a:rPr lang="en-US" sz="1400" dirty="0">
                <a:solidFill>
                  <a:srgbClr val="F4F0FF"/>
                </a:solidFill>
                <a:latin typeface="Orbitron" pitchFamily="34" charset="0"/>
                <a:ea typeface="Orbitron" pitchFamily="34" charset="-122"/>
                <a:cs typeface="Orbitron" pitchFamily="34" charset="-120"/>
              </a:rPr>
              <a:t>0.0025 SOL</a:t>
            </a:r>
            <a:endParaRPr lang="en-US" sz="1400" dirty="0"/>
          </a:p>
          <a:p>
            <a:pPr indent="0" marL="0">
              <a:buNone/>
            </a:pPr>
            <a:r>
              <a:rPr lang="en-US" sz="1400" b="1" dirty="0">
                <a:solidFill>
                  <a:srgbClr val="C1FF72"/>
                </a:solidFill>
                <a:latin typeface="Orbitron" pitchFamily="34" charset="0"/>
                <a:ea typeface="Orbitron" pitchFamily="34" charset="-122"/>
                <a:cs typeface="Orbitron" pitchFamily="34" charset="-120"/>
              </a:rPr>
              <a:t>Accuracy   </a:t>
            </a:r>
            <a:pPr indent="0" marL="0">
              <a:buNone/>
            </a:pPr>
            <a:r>
              <a:rPr lang="en-US" sz="1400" dirty="0">
                <a:solidFill>
                  <a:srgbClr val="F4F0FF"/>
                </a:solidFill>
                <a:latin typeface="Orbitron" pitchFamily="34" charset="0"/>
                <a:ea typeface="Orbitron" pitchFamily="34" charset="-122"/>
                <a:cs typeface="Orbitron" pitchFamily="34" charset="-120"/>
              </a:rPr>
              <a:t>70%</a:t>
            </a:r>
            <a:endParaRPr lang="en-US" sz="1400" dirty="0"/>
          </a:p>
          <a:p>
            <a:pPr indent="0" marL="0">
              <a:buNone/>
            </a:pPr>
            <a:r>
              <a:rPr lang="en-US" sz="1400" b="1" dirty="0">
                <a:solidFill>
                  <a:srgbClr val="C1FF72"/>
                </a:solidFill>
                <a:latin typeface="Orbitron" pitchFamily="34" charset="0"/>
                <a:ea typeface="Orbitron" pitchFamily="34" charset="-122"/>
                <a:cs typeface="Orbitron" pitchFamily="34" charset="-120"/>
              </a:rPr>
              <a:t>PnL   </a:t>
            </a:r>
            <a:pPr indent="0" marL="0">
              <a:buNone/>
            </a:pPr>
            <a:r>
              <a:rPr lang="en-US" sz="1400" dirty="0">
                <a:solidFill>
                  <a:srgbClr val="F4F0FF"/>
                </a:solidFill>
                <a:latin typeface="Orbitron" pitchFamily="34" charset="0"/>
                <a:ea typeface="Orbitron" pitchFamily="34" charset="-122"/>
                <a:cs typeface="Orbitron" pitchFamily="34" charset="-120"/>
              </a:rPr>
              <a:t>+0.0010 SOL</a:t>
            </a:r>
            <a:endParaRPr lang="en-US" sz="1400" dirty="0"/>
          </a:p>
        </p:txBody>
      </p:sp>
      <p:sp>
        <p:nvSpPr>
          <p:cNvPr id="10" name="Meter track"/>
          <p:cNvSpPr/>
          <p:nvPr/>
        </p:nvSpPr>
        <p:spPr>
          <a:xfrm>
            <a:off x="6903720" y="5166360"/>
            <a:ext cx="4663440" cy="292608"/>
          </a:xfrm>
          <a:prstGeom prst="roundRect">
            <a:avLst>
              <a:gd name="adj" fmla="val 50000"/>
            </a:avLst>
          </a:prstGeom>
          <a:solidFill>
            <a:srgbClr val="0A0014"/>
          </a:solidFill>
          <a:ln w="31750">
            <a:solidFill>
              <a:srgbClr val="C1FF72"/>
            </a:solidFill>
            <a:prstDash val="solid"/>
          </a:ln>
        </p:spPr>
      </p:sp>
      <p:sp>
        <p:nvSpPr>
          <p:cNvPr id="11" name="Meter fill"/>
          <p:cNvSpPr/>
          <p:nvPr/>
        </p:nvSpPr>
        <p:spPr>
          <a:xfrm>
            <a:off x="6949440" y="5212080"/>
            <a:ext cx="3200400" cy="201168"/>
          </a:xfrm>
          <a:prstGeom prst="roundRect">
            <a:avLst>
              <a:gd name="adj" fmla="val 45455"/>
            </a:avLst>
          </a:prstGeom>
          <a:solidFill>
            <a:srgbClr val="C1FF72"/>
          </a:solidFill>
          <a:ln w="12700">
            <a:solidFill>
              <a:srgbClr val="C1FF72"/>
            </a:solidFill>
            <a:prstDash val="solid"/>
          </a:ln>
        </p:spPr>
      </p:sp>
      <p:sp>
        <p:nvSpPr>
          <p:cNvPr id="12" name="Break-even mark"/>
          <p:cNvSpPr/>
          <p:nvPr/>
        </p:nvSpPr>
        <p:spPr>
          <a:xfrm>
            <a:off x="9217152" y="5120640"/>
            <a:ext cx="45720" cy="384048"/>
          </a:xfrm>
          <a:prstGeom prst="rect">
            <a:avLst/>
          </a:prstGeom>
          <a:solidFill>
            <a:srgbClr val="FF9BF5"/>
          </a:solidFill>
          <a:ln w="12700">
            <a:solidFill>
              <a:srgbClr val="FF9BF5"/>
            </a:solidFill>
            <a:prstDash val="solid"/>
          </a:ln>
        </p:spPr>
      </p:sp>
      <p:sp>
        <p:nvSpPr>
          <p:cNvPr id="13" name="Meter note"/>
          <p:cNvSpPr txBox="1"/>
          <p:nvPr/>
        </p:nvSpPr>
        <p:spPr>
          <a:xfrm>
            <a:off x="6903720" y="5577840"/>
            <a:ext cx="4663440" cy="457200"/>
          </a:xfrm>
          <a:prstGeom prst="rect">
            <a:avLst/>
          </a:prstGeom>
          <a:noFill/>
          <a:ln/>
        </p:spPr>
        <p:txBody>
          <a:bodyPr wrap="square" lIns="0" tIns="0" rIns="0" bIns="0" rtlCol="0" anchor="t"/>
          <a:lstStyle/>
          <a:p>
            <a:pPr indent="0" marL="0">
              <a:buNone/>
            </a:pPr>
            <a:r>
              <a:rPr lang="en-US" sz="1200" dirty="0">
                <a:solidFill>
                  <a:srgbClr val="B9B0E6"/>
                </a:solidFill>
                <a:latin typeface="Orbitron" pitchFamily="34" charset="0"/>
                <a:ea typeface="Orbitron" pitchFamily="34" charset="-122"/>
                <a:cs typeface="Orbitron" pitchFamily="34" charset="-120"/>
              </a:rPr>
              <a:t>The pink mark is 50%: break-even. Right of it you win, left of it you lose.</a:t>
            </a:r>
            <a:endParaRPr lang="en-US" sz="1200" dirty="0"/>
          </a:p>
        </p:txBody>
      </p:sp>
      <p:sp>
        <p:nvSpPr>
          <p:cNvPr id="25" name="Slide Number Placeholder 0"/>
          <p:cNvSpPr>
            <a:spLocks noGrp="1"/>
          </p:cNvSpPr>
          <p:nvPr>
            <p:ph type="sldNum" sz="quarter" idx="4294967295"/>
          </p:nvPr>
        </p:nvSpPr>
        <p:spPr>
          <a:xfrm>
            <a:off x="1115568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1FF72"/>
                </a:solidFill>
                <a:latin typeface="Press Start 2P"/>
                <a:ea typeface="Press Start 2P"/>
                <a:cs typeface="Press Start 2P"/>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ag"/>
          <p:cNvSpPr txBox="1"/>
          <p:nvPr/>
        </p:nvSpPr>
        <p:spPr>
          <a:xfrm>
            <a:off x="640080" y="502920"/>
            <a:ext cx="10911535" cy="274320"/>
          </a:xfrm>
          <a:prstGeom prst="rect">
            <a:avLst/>
          </a:prstGeom>
          <a:noFill/>
          <a:ln/>
        </p:spPr>
        <p:txBody>
          <a:bodyPr wrap="square" lIns="0" tIns="0" rIns="0" bIns="0" rtlCol="0" anchor="ctr"/>
          <a:lstStyle/>
          <a:p>
            <a:pPr indent="0" marL="0">
              <a:buNone/>
            </a:pPr>
            <a:r>
              <a:rPr lang="en-US" sz="1000" dirty="0">
                <a:solidFill>
                  <a:schemeClr val="accent1"/>
                </a:solidFill>
                <a:latin typeface="Press Start 2P" pitchFamily="34" charset="0"/>
                <a:ea typeface="Press Start 2P" pitchFamily="34" charset="-122"/>
                <a:cs typeface="Press Start 2P" pitchFamily="34" charset="-120"/>
              </a:rPr>
              <a:t>BUILT FOR SOLANA MOBILE</a:t>
            </a:r>
            <a:endParaRPr lang="en-US" sz="1000" dirty="0"/>
          </a:p>
        </p:txBody>
      </p:sp>
      <p:sp>
        <p:nvSpPr>
          <p:cNvPr id="3" name="Title"/>
          <p:cNvSpPr txBox="1"/>
          <p:nvPr/>
        </p:nvSpPr>
        <p:spPr>
          <a:xfrm>
            <a:off x="640080" y="868680"/>
            <a:ext cx="10911535" cy="1005840"/>
          </a:xfrm>
          <a:prstGeom prst="rect">
            <a:avLst/>
          </a:prstGeom>
          <a:noFill/>
          <a:ln/>
        </p:spPr>
        <p:txBody>
          <a:bodyPr wrap="square" lIns="0" tIns="0" rIns="0" bIns="0" rtlCol="0" anchor="t">
            <a:normAutofit/>
          </a:bodyPr>
          <a:lstStyle/>
          <a:p>
            <a:pPr indent="0" marL="0">
              <a:buNone/>
            </a:pPr>
            <a:r>
              <a:rPr lang="en-US" sz="3400" b="1" i="1" dirty="0">
                <a:solidFill>
                  <a:schemeClr val="accent1"/>
                </a:solidFill>
                <a:latin typeface="Orbitron" pitchFamily="34" charset="0"/>
                <a:ea typeface="Orbitron" pitchFamily="34" charset="-122"/>
                <a:cs typeface="Orbitron" pitchFamily="34" charset="-120"/>
              </a:rPr>
              <a:t>The whole loop fits in a thumb and a minute</a:t>
            </a:r>
            <a:endParaRPr lang="en-US" sz="3400" dirty="0"/>
          </a:p>
        </p:txBody>
      </p:sp>
      <p:sp>
        <p:nvSpPr>
          <p:cNvPr id="4" name="Card shadow"/>
          <p:cNvSpPr/>
          <p:nvPr/>
        </p:nvSpPr>
        <p:spPr>
          <a:xfrm>
            <a:off x="722376" y="2322576"/>
            <a:ext cx="5349240" cy="1783080"/>
          </a:xfrm>
          <a:prstGeom prst="roundRect">
            <a:avLst>
              <a:gd name="adj" fmla="val 7179"/>
            </a:avLst>
          </a:prstGeom>
          <a:solidFill>
            <a:srgbClr val="1800AD"/>
          </a:solidFill>
          <a:ln w="12700">
            <a:solidFill>
              <a:srgbClr val="1800AD"/>
            </a:solidFill>
            <a:prstDash val="solid"/>
          </a:ln>
        </p:spPr>
      </p:sp>
      <p:sp>
        <p:nvSpPr>
          <p:cNvPr id="5" name="Card"/>
          <p:cNvSpPr/>
          <p:nvPr/>
        </p:nvSpPr>
        <p:spPr>
          <a:xfrm>
            <a:off x="640080" y="2240280"/>
            <a:ext cx="5349240" cy="1783080"/>
          </a:xfrm>
          <a:prstGeom prst="roundRect">
            <a:avLst>
              <a:gd name="adj" fmla="val 7179"/>
            </a:avLst>
          </a:prstGeom>
          <a:solidFill>
            <a:srgbClr val="0A0014"/>
          </a:solidFill>
          <a:ln w="31750">
            <a:solidFill>
              <a:srgbClr val="C1FF72"/>
            </a:solidFill>
          </a:ln>
        </p:spPr>
        <p:txBody>
          <a:bodyPr wrap="square" lIns="139700" tIns="177800" rIns="177800" bIns="139700" rtlCol="0" anchor="t"/>
          <a:lstStyle/>
          <a:p>
            <a:pPr indent="0" marL="0">
              <a:spcAft>
                <a:spcPts val="600"/>
              </a:spcAft>
              <a:buNone/>
            </a:pPr>
            <a:r>
              <a:rPr lang="en-US" sz="1600" b="1" dirty="0">
                <a:solidFill>
                  <a:srgbClr val="C1FF72"/>
                </a:solidFill>
                <a:latin typeface="Orbitron" pitchFamily="34" charset="0"/>
                <a:ea typeface="Orbitron" pitchFamily="34" charset="-122"/>
                <a:cs typeface="Orbitron" pitchFamily="34" charset="-120"/>
              </a:rPr>
              <a:t>Mobile Wallet Adapter 2.0</a:t>
            </a:r>
            <a:endParaRPr lang="en-US" sz="1400" dirty="0"/>
          </a:p>
          <a:p>
            <a:pPr indent="0" marL="0">
              <a:buNone/>
            </a:pPr>
            <a:r>
              <a:rPr lang="en-US" sz="1400" dirty="0">
                <a:solidFill>
                  <a:srgbClr val="B9B0E6"/>
                </a:solidFill>
                <a:latin typeface="Orbitron" pitchFamily="34" charset="0"/>
                <a:ea typeface="Orbitron" pitchFamily="34" charset="-122"/>
                <a:cs typeface="Orbitron" pitchFamily="34" charset="-120"/>
              </a:rPr>
              <a:t>Connect, authorize and sign through the wallet already on the phone. The auth token is cached in secure storage and refreshed silently.</a:t>
            </a:r>
            <a:endParaRPr lang="en-US" sz="1400" dirty="0"/>
          </a:p>
        </p:txBody>
      </p:sp>
      <p:sp>
        <p:nvSpPr>
          <p:cNvPr id="6" name="Card shadow"/>
          <p:cNvSpPr/>
          <p:nvPr/>
        </p:nvSpPr>
        <p:spPr>
          <a:xfrm>
            <a:off x="6391656" y="2322576"/>
            <a:ext cx="5349240" cy="1783080"/>
          </a:xfrm>
          <a:prstGeom prst="roundRect">
            <a:avLst>
              <a:gd name="adj" fmla="val 7179"/>
            </a:avLst>
          </a:prstGeom>
          <a:solidFill>
            <a:srgbClr val="1800AD"/>
          </a:solidFill>
          <a:ln w="12700">
            <a:solidFill>
              <a:srgbClr val="1800AD"/>
            </a:solidFill>
            <a:prstDash val="solid"/>
          </a:ln>
        </p:spPr>
      </p:sp>
      <p:sp>
        <p:nvSpPr>
          <p:cNvPr id="7" name="Card"/>
          <p:cNvSpPr/>
          <p:nvPr/>
        </p:nvSpPr>
        <p:spPr>
          <a:xfrm>
            <a:off x="6309360" y="2240280"/>
            <a:ext cx="5349240" cy="1783080"/>
          </a:xfrm>
          <a:prstGeom prst="roundRect">
            <a:avLst>
              <a:gd name="adj" fmla="val 7179"/>
            </a:avLst>
          </a:prstGeom>
          <a:solidFill>
            <a:srgbClr val="0A0014"/>
          </a:solidFill>
          <a:ln w="31750">
            <a:solidFill>
              <a:srgbClr val="C1FF72"/>
            </a:solidFill>
          </a:ln>
        </p:spPr>
        <p:txBody>
          <a:bodyPr wrap="square" lIns="139700" tIns="177800" rIns="177800" bIns="139700" rtlCol="0" anchor="t"/>
          <a:lstStyle/>
          <a:p>
            <a:pPr indent="0" marL="0">
              <a:spcAft>
                <a:spcPts val="600"/>
              </a:spcAft>
              <a:buNone/>
            </a:pPr>
            <a:r>
              <a:rPr lang="en-US" sz="1600" b="1" dirty="0">
                <a:solidFill>
                  <a:srgbClr val="C1FF72"/>
                </a:solidFill>
                <a:latin typeface="Orbitron" pitchFamily="34" charset="0"/>
                <a:ea typeface="Orbitron" pitchFamily="34" charset="-122"/>
                <a:cs typeface="Orbitron" pitchFamily="34" charset="-120"/>
              </a:rPr>
              <a:t>Sign here, submit from the app</a:t>
            </a:r>
            <a:endParaRPr lang="en-US" sz="1400" dirty="0"/>
          </a:p>
          <a:p>
            <a:pPr indent="0" marL="0">
              <a:buNone/>
            </a:pPr>
            <a:r>
              <a:rPr lang="en-US" sz="1400" dirty="0">
                <a:solidFill>
                  <a:srgbClr val="B9B0E6"/>
                </a:solidFill>
                <a:latin typeface="Orbitron" pitchFamily="34" charset="0"/>
                <a:ea typeface="Orbitron" pitchFamily="34" charset="-122"/>
                <a:cs typeface="Orbitron" pitchFamily="34" charset="-120"/>
              </a:rPr>
              <a:t>The wallet only signs. The app checks what came back (only fee instructions may be added), then sends it through its own RPC.</a:t>
            </a:r>
            <a:endParaRPr lang="en-US" sz="1400" dirty="0"/>
          </a:p>
        </p:txBody>
      </p:sp>
      <p:sp>
        <p:nvSpPr>
          <p:cNvPr id="8" name="Card shadow"/>
          <p:cNvSpPr/>
          <p:nvPr/>
        </p:nvSpPr>
        <p:spPr>
          <a:xfrm>
            <a:off x="722376" y="4334256"/>
            <a:ext cx="5349240" cy="1783080"/>
          </a:xfrm>
          <a:prstGeom prst="roundRect">
            <a:avLst>
              <a:gd name="adj" fmla="val 7179"/>
            </a:avLst>
          </a:prstGeom>
          <a:solidFill>
            <a:srgbClr val="1800AD"/>
          </a:solidFill>
          <a:ln w="12700">
            <a:solidFill>
              <a:srgbClr val="1800AD"/>
            </a:solidFill>
            <a:prstDash val="solid"/>
          </a:ln>
        </p:spPr>
      </p:sp>
      <p:sp>
        <p:nvSpPr>
          <p:cNvPr id="9" name="Card"/>
          <p:cNvSpPr/>
          <p:nvPr/>
        </p:nvSpPr>
        <p:spPr>
          <a:xfrm>
            <a:off x="640080" y="4251960"/>
            <a:ext cx="5349240" cy="1783080"/>
          </a:xfrm>
          <a:prstGeom prst="roundRect">
            <a:avLst>
              <a:gd name="adj" fmla="val 7179"/>
            </a:avLst>
          </a:prstGeom>
          <a:solidFill>
            <a:srgbClr val="0A0014"/>
          </a:solidFill>
          <a:ln w="31750">
            <a:solidFill>
              <a:srgbClr val="C1FF72"/>
            </a:solidFill>
          </a:ln>
        </p:spPr>
        <p:txBody>
          <a:bodyPr wrap="square" lIns="139700" tIns="177800" rIns="177800" bIns="139700" rtlCol="0" anchor="t"/>
          <a:lstStyle/>
          <a:p>
            <a:pPr indent="0" marL="0">
              <a:spcAft>
                <a:spcPts val="600"/>
              </a:spcAft>
              <a:buNone/>
            </a:pPr>
            <a:r>
              <a:rPr lang="en-US" sz="1600" b="1" dirty="0">
                <a:solidFill>
                  <a:srgbClr val="C1FF72"/>
                </a:solidFill>
                <a:latin typeface="Orbitron" pitchFamily="34" charset="0"/>
                <a:ea typeface="Orbitron" pitchFamily="34" charset="-122"/>
                <a:cs typeface="Orbitron" pitchFamily="34" charset="-120"/>
              </a:rPr>
              <a:t>Made for a small screen</a:t>
            </a:r>
            <a:endParaRPr lang="en-US" sz="1400" dirty="0"/>
          </a:p>
          <a:p>
            <a:pPr indent="0" marL="0">
              <a:buNone/>
            </a:pPr>
            <a:r>
              <a:rPr lang="en-US" sz="1400" dirty="0">
                <a:solidFill>
                  <a:srgbClr val="B9B0E6"/>
                </a:solidFill>
                <a:latin typeface="Orbitron" pitchFamily="34" charset="0"/>
                <a:ea typeface="Orbitron" pitchFamily="34" charset="-122"/>
                <a:cs typeface="Orbitron" pitchFamily="34" charset="-120"/>
              </a:rPr>
              <a:t>A finger-drawn canvas, a slot-machine lever, haptics on every pull and result, and the screen stays awake during a round.</a:t>
            </a:r>
            <a:endParaRPr lang="en-US" sz="1400" dirty="0"/>
          </a:p>
        </p:txBody>
      </p:sp>
      <p:sp>
        <p:nvSpPr>
          <p:cNvPr id="10" name="Card shadow"/>
          <p:cNvSpPr/>
          <p:nvPr/>
        </p:nvSpPr>
        <p:spPr>
          <a:xfrm>
            <a:off x="6391656" y="4334256"/>
            <a:ext cx="5349240" cy="1783080"/>
          </a:xfrm>
          <a:prstGeom prst="roundRect">
            <a:avLst>
              <a:gd name="adj" fmla="val 7179"/>
            </a:avLst>
          </a:prstGeom>
          <a:solidFill>
            <a:srgbClr val="1800AD"/>
          </a:solidFill>
          <a:ln w="12700">
            <a:solidFill>
              <a:srgbClr val="1800AD"/>
            </a:solidFill>
            <a:prstDash val="solid"/>
          </a:ln>
        </p:spPr>
      </p:sp>
      <p:sp>
        <p:nvSpPr>
          <p:cNvPr id="11" name="Card"/>
          <p:cNvSpPr/>
          <p:nvPr/>
        </p:nvSpPr>
        <p:spPr>
          <a:xfrm>
            <a:off x="6309360" y="4251960"/>
            <a:ext cx="5349240" cy="1783080"/>
          </a:xfrm>
          <a:prstGeom prst="roundRect">
            <a:avLst>
              <a:gd name="adj" fmla="val 7179"/>
            </a:avLst>
          </a:prstGeom>
          <a:solidFill>
            <a:srgbClr val="0A0014"/>
          </a:solidFill>
          <a:ln w="31750">
            <a:solidFill>
              <a:srgbClr val="C1FF72"/>
            </a:solidFill>
          </a:ln>
        </p:spPr>
        <p:txBody>
          <a:bodyPr wrap="square" lIns="139700" tIns="177800" rIns="177800" bIns="139700" rtlCol="0" anchor="t"/>
          <a:lstStyle/>
          <a:p>
            <a:pPr indent="0" marL="0">
              <a:spcAft>
                <a:spcPts val="600"/>
              </a:spcAft>
              <a:buNone/>
            </a:pPr>
            <a:r>
              <a:rPr lang="en-US" sz="1600" b="1" dirty="0">
                <a:solidFill>
                  <a:srgbClr val="C1FF72"/>
                </a:solidFill>
                <a:latin typeface="Orbitron" pitchFamily="34" charset="0"/>
                <a:ea typeface="Orbitron" pitchFamily="34" charset="-122"/>
                <a:cs typeface="Orbitron" pitchFamily="34" charset="-120"/>
              </a:rPr>
              <a:t>Wallet errors that make sense</a:t>
            </a:r>
            <a:endParaRPr lang="en-US" sz="1400" dirty="0"/>
          </a:p>
          <a:p>
            <a:pPr indent="0" marL="0">
              <a:buNone/>
            </a:pPr>
            <a:r>
              <a:rPr lang="en-US" sz="1400" dirty="0">
                <a:solidFill>
                  <a:srgbClr val="B9B0E6"/>
                </a:solidFill>
                <a:latin typeface="Orbitron" pitchFamily="34" charset="0"/>
                <a:ea typeface="Orbitron" pitchFamily="34" charset="-122"/>
                <a:cs typeface="Orbitron" pitchFamily="34" charset="-120"/>
              </a:rPr>
              <a:t>Backing out of the wallet is a retry, not a failure. A fresh blockhash is fetched after approval so devnet's short expiry does not bite.</a:t>
            </a:r>
            <a:endParaRPr lang="en-US" sz="1400" dirty="0"/>
          </a:p>
        </p:txBody>
      </p:sp>
      <p:sp>
        <p:nvSpPr>
          <p:cNvPr id="25" name="Slide Number Placeholder 0"/>
          <p:cNvSpPr>
            <a:spLocks noGrp="1"/>
          </p:cNvSpPr>
          <p:nvPr>
            <p:ph type="sldNum" sz="quarter" idx="4294967295"/>
          </p:nvPr>
        </p:nvSpPr>
        <p:spPr>
          <a:xfrm>
            <a:off x="1115568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1FF72"/>
                </a:solidFill>
                <a:latin typeface="Press Start 2P"/>
                <a:ea typeface="Press Start 2P"/>
                <a:cs typeface="Press Start 2P"/>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ag"/>
          <p:cNvSpPr txBox="1"/>
          <p:nvPr/>
        </p:nvSpPr>
        <p:spPr>
          <a:xfrm>
            <a:off x="640080" y="502920"/>
            <a:ext cx="10911535" cy="274320"/>
          </a:xfrm>
          <a:prstGeom prst="rect">
            <a:avLst/>
          </a:prstGeom>
          <a:noFill/>
          <a:ln/>
        </p:spPr>
        <p:txBody>
          <a:bodyPr wrap="square" lIns="0" tIns="0" rIns="0" bIns="0" rtlCol="0" anchor="ctr"/>
          <a:lstStyle/>
          <a:p>
            <a:pPr indent="0" marL="0">
              <a:buNone/>
            </a:pPr>
            <a:r>
              <a:rPr lang="en-US" sz="1000" dirty="0">
                <a:solidFill>
                  <a:schemeClr val="accent1"/>
                </a:solidFill>
                <a:latin typeface="Press Start 2P" pitchFamily="34" charset="0"/>
                <a:ea typeface="Press Start 2P" pitchFamily="34" charset="-122"/>
                <a:cs typeface="Press Start 2P" pitchFamily="34" charset="-120"/>
              </a:rPr>
              <a:t>ON-CHAIN DESIGN</a:t>
            </a:r>
            <a:endParaRPr lang="en-US" sz="1000" dirty="0"/>
          </a:p>
        </p:txBody>
      </p:sp>
      <p:sp>
        <p:nvSpPr>
          <p:cNvPr id="3" name="Title"/>
          <p:cNvSpPr txBox="1"/>
          <p:nvPr/>
        </p:nvSpPr>
        <p:spPr>
          <a:xfrm>
            <a:off x="640080" y="868680"/>
            <a:ext cx="10911535" cy="548640"/>
          </a:xfrm>
          <a:prstGeom prst="rect">
            <a:avLst/>
          </a:prstGeom>
          <a:noFill/>
          <a:ln/>
        </p:spPr>
        <p:txBody>
          <a:bodyPr wrap="square" lIns="0" tIns="0" rIns="0" bIns="0" rtlCol="0" anchor="t">
            <a:normAutofit/>
          </a:bodyPr>
          <a:lstStyle/>
          <a:p>
            <a:pPr indent="0" marL="0">
              <a:buNone/>
            </a:pPr>
            <a:r>
              <a:rPr lang="en-US" sz="3000" b="1" i="1" dirty="0">
                <a:solidFill>
                  <a:schemeClr val="accent1"/>
                </a:solidFill>
                <a:latin typeface="Orbitron" pitchFamily="34" charset="0"/>
                <a:ea typeface="Orbitron" pitchFamily="34" charset="-122"/>
                <a:cs typeface="Orbitron" pitchFamily="34" charset="-120"/>
              </a:rPr>
              <a:t>Stakes in a vault. Results written by a settler</a:t>
            </a:r>
            <a:endParaRPr lang="en-US" sz="3000" dirty="0"/>
          </a:p>
        </p:txBody>
      </p:sp>
      <p:sp>
        <p:nvSpPr>
          <p:cNvPr id="4" name="Scrawl app"/>
          <p:cNvSpPr/>
          <p:nvPr/>
        </p:nvSpPr>
        <p:spPr>
          <a:xfrm>
            <a:off x="1005840" y="1783080"/>
            <a:ext cx="2743200" cy="914400"/>
          </a:xfrm>
          <a:prstGeom prst="roundRect">
            <a:avLst>
              <a:gd name="adj" fmla="val 12000"/>
            </a:avLst>
          </a:prstGeom>
          <a:solidFill>
            <a:srgbClr val="0A0014"/>
          </a:solidFill>
          <a:ln w="31750">
            <a:solidFill>
              <a:srgbClr val="C1FF72"/>
            </a:solidFill>
          </a:ln>
        </p:spPr>
        <p:txBody>
          <a:bodyPr wrap="square" lIns="101600" tIns="127000" rIns="127000" bIns="101600" rtlCol="0" anchor="ctr"/>
          <a:lstStyle/>
          <a:p>
            <a:pPr indent="0" marL="0">
              <a:buNone/>
            </a:pPr>
            <a:r>
              <a:rPr lang="en-US" sz="1500" b="1" dirty="0">
                <a:solidFill>
                  <a:srgbClr val="C1FF72"/>
                </a:solidFill>
                <a:latin typeface="Orbitron" pitchFamily="34" charset="0"/>
                <a:ea typeface="Orbitron" pitchFamily="34" charset="-122"/>
                <a:cs typeface="Orbitron" pitchFamily="34" charset="-120"/>
              </a:rPr>
              <a:t>Scrawl app</a:t>
            </a:r>
            <a:endParaRPr lang="en-US" sz="1500" dirty="0"/>
          </a:p>
          <a:p>
            <a:pPr indent="0" marL="0">
              <a:buNone/>
            </a:pPr>
            <a:r>
              <a:rPr lang="en-US" sz="1200" dirty="0">
                <a:solidFill>
                  <a:srgbClr val="B9B0E6"/>
                </a:solidFill>
                <a:latin typeface="Orbitron" pitchFamily="34" charset="0"/>
                <a:ea typeface="Orbitron" pitchFamily="34" charset="-122"/>
                <a:cs typeface="Orbitron" pitchFamily="34" charset="-120"/>
              </a:rPr>
              <a:t>draw, hash, stake</a:t>
            </a:r>
            <a:endParaRPr lang="en-US" sz="1500" dirty="0"/>
          </a:p>
        </p:txBody>
      </p:sp>
      <p:sp>
        <p:nvSpPr>
          <p:cNvPr id="5" name="Wallet"/>
          <p:cNvSpPr/>
          <p:nvPr/>
        </p:nvSpPr>
        <p:spPr>
          <a:xfrm>
            <a:off x="1005840" y="3246120"/>
            <a:ext cx="2743200" cy="914400"/>
          </a:xfrm>
          <a:prstGeom prst="roundRect">
            <a:avLst>
              <a:gd name="adj" fmla="val 12000"/>
            </a:avLst>
          </a:prstGeom>
          <a:solidFill>
            <a:srgbClr val="0A0014"/>
          </a:solidFill>
          <a:ln w="31750">
            <a:solidFill>
              <a:srgbClr val="C1FF72"/>
            </a:solidFill>
          </a:ln>
        </p:spPr>
        <p:txBody>
          <a:bodyPr wrap="square" lIns="101600" tIns="127000" rIns="127000" bIns="101600" rtlCol="0" anchor="ctr"/>
          <a:lstStyle/>
          <a:p>
            <a:pPr indent="0" marL="0">
              <a:buNone/>
            </a:pPr>
            <a:r>
              <a:rPr lang="en-US" sz="1500" b="1" dirty="0">
                <a:solidFill>
                  <a:srgbClr val="C1FF72"/>
                </a:solidFill>
                <a:latin typeface="Orbitron" pitchFamily="34" charset="0"/>
                <a:ea typeface="Orbitron" pitchFamily="34" charset="-122"/>
                <a:cs typeface="Orbitron" pitchFamily="34" charset="-120"/>
              </a:rPr>
              <a:t>Wallet</a:t>
            </a:r>
            <a:endParaRPr lang="en-US" sz="1500" dirty="0"/>
          </a:p>
          <a:p>
            <a:pPr indent="0" marL="0">
              <a:buNone/>
            </a:pPr>
            <a:r>
              <a:rPr lang="en-US" sz="1200" dirty="0">
                <a:solidFill>
                  <a:srgbClr val="B9B0E6"/>
                </a:solidFill>
                <a:latin typeface="Orbitron" pitchFamily="34" charset="0"/>
                <a:ea typeface="Orbitron" pitchFamily="34" charset="-122"/>
                <a:cs typeface="Orbitron" pitchFamily="34" charset="-120"/>
              </a:rPr>
              <a:t>Mobile Wallet Adapter</a:t>
            </a:r>
            <a:endParaRPr lang="en-US" sz="1500" dirty="0"/>
          </a:p>
        </p:txBody>
      </p:sp>
      <p:sp>
        <p:nvSpPr>
          <p:cNvPr id="6" name="Futures program"/>
          <p:cNvSpPr/>
          <p:nvPr/>
        </p:nvSpPr>
        <p:spPr>
          <a:xfrm>
            <a:off x="4709160" y="3017520"/>
            <a:ext cx="2743200" cy="1371600"/>
          </a:xfrm>
          <a:prstGeom prst="roundRect">
            <a:avLst>
              <a:gd name="adj" fmla="val 8000"/>
            </a:avLst>
          </a:prstGeom>
          <a:solidFill>
            <a:srgbClr val="1800AD"/>
          </a:solidFill>
          <a:ln w="31750">
            <a:solidFill>
              <a:srgbClr val="C1FF72"/>
            </a:solidFill>
          </a:ln>
        </p:spPr>
        <p:txBody>
          <a:bodyPr wrap="square" lIns="101600" tIns="127000" rIns="127000" bIns="101600" rtlCol="0" anchor="ctr"/>
          <a:lstStyle/>
          <a:p>
            <a:pPr indent="0" marL="0">
              <a:buNone/>
            </a:pPr>
            <a:r>
              <a:rPr lang="en-US" sz="1500" b="1" dirty="0">
                <a:solidFill>
                  <a:srgbClr val="C1FF72"/>
                </a:solidFill>
                <a:latin typeface="Orbitron" pitchFamily="34" charset="0"/>
                <a:ea typeface="Orbitron" pitchFamily="34" charset="-122"/>
                <a:cs typeface="Orbitron" pitchFamily="34" charset="-120"/>
              </a:rPr>
              <a:t>Futures program</a:t>
            </a:r>
            <a:endParaRPr lang="en-US" sz="1500" dirty="0"/>
          </a:p>
          <a:p>
            <a:pPr indent="0" marL="0">
              <a:buNone/>
            </a:pPr>
            <a:r>
              <a:rPr lang="en-US" sz="1200" dirty="0">
                <a:solidFill>
                  <a:srgbClr val="F4F0FF"/>
                </a:solidFill>
                <a:latin typeface="Orbitron" pitchFamily="34" charset="0"/>
                <a:ea typeface="Orbitron" pitchFamily="34" charset="-122"/>
                <a:cs typeface="Orbitron" pitchFamily="34" charset="-120"/>
              </a:rPr>
              <a:t>Vault PDA holds SOL. Position PDA per bet. open / close, pause, fee, pnl bounds</a:t>
            </a:r>
            <a:endParaRPr lang="en-US" sz="1500" dirty="0"/>
          </a:p>
        </p:txBody>
      </p:sp>
      <p:sp>
        <p:nvSpPr>
          <p:cNvPr id="7" name="Settler"/>
          <p:cNvSpPr/>
          <p:nvPr/>
        </p:nvSpPr>
        <p:spPr>
          <a:xfrm>
            <a:off x="8412480" y="3246120"/>
            <a:ext cx="2743200" cy="914400"/>
          </a:xfrm>
          <a:prstGeom prst="roundRect">
            <a:avLst>
              <a:gd name="adj" fmla="val 12000"/>
            </a:avLst>
          </a:prstGeom>
          <a:solidFill>
            <a:srgbClr val="0A0014"/>
          </a:solidFill>
          <a:ln w="31750">
            <a:solidFill>
              <a:srgbClr val="C1FF72"/>
            </a:solidFill>
          </a:ln>
        </p:spPr>
        <p:txBody>
          <a:bodyPr wrap="square" lIns="101600" tIns="127000" rIns="127000" bIns="101600" rtlCol="0" anchor="ctr"/>
          <a:lstStyle/>
          <a:p>
            <a:pPr indent="0" marL="0">
              <a:buNone/>
            </a:pPr>
            <a:r>
              <a:rPr lang="en-US" sz="1500" b="1" dirty="0">
                <a:solidFill>
                  <a:srgbClr val="C1FF72"/>
                </a:solidFill>
                <a:latin typeface="Orbitron" pitchFamily="34" charset="0"/>
                <a:ea typeface="Orbitron" pitchFamily="34" charset="-122"/>
                <a:cs typeface="Orbitron" pitchFamily="34" charset="-120"/>
              </a:rPr>
              <a:t>Settler</a:t>
            </a:r>
            <a:endParaRPr lang="en-US" sz="1500" dirty="0"/>
          </a:p>
          <a:p>
            <a:pPr indent="0" marL="0">
              <a:buNone/>
            </a:pPr>
            <a:r>
              <a:rPr lang="en-US" sz="1200" dirty="0">
                <a:solidFill>
                  <a:srgbClr val="B9B0E6"/>
                </a:solidFill>
                <a:latin typeface="Orbitron" pitchFamily="34" charset="0"/>
                <a:ea typeface="Orbitron" pitchFamily="34" charset="-122"/>
                <a:cs typeface="Orbitron" pitchFamily="34" charset="-120"/>
              </a:rPr>
              <a:t>scores and closes</a:t>
            </a:r>
            <a:endParaRPr lang="en-US" sz="1500" dirty="0"/>
          </a:p>
        </p:txBody>
      </p:sp>
      <p:sp>
        <p:nvSpPr>
          <p:cNvPr id="8" name="Price feed"/>
          <p:cNvSpPr/>
          <p:nvPr/>
        </p:nvSpPr>
        <p:spPr>
          <a:xfrm>
            <a:off x="8412480" y="4709160"/>
            <a:ext cx="2743200" cy="914400"/>
          </a:xfrm>
          <a:prstGeom prst="roundRect">
            <a:avLst>
              <a:gd name="adj" fmla="val 12000"/>
            </a:avLst>
          </a:prstGeom>
          <a:solidFill>
            <a:srgbClr val="0A0014"/>
          </a:solidFill>
          <a:ln w="31750">
            <a:solidFill>
              <a:srgbClr val="C1FF72"/>
            </a:solidFill>
          </a:ln>
        </p:spPr>
        <p:txBody>
          <a:bodyPr wrap="square" lIns="101600" tIns="127000" rIns="127000" bIns="101600" rtlCol="0" anchor="ctr"/>
          <a:lstStyle/>
          <a:p>
            <a:pPr indent="0" marL="0">
              <a:buNone/>
            </a:pPr>
            <a:r>
              <a:rPr lang="en-US" sz="1500" b="1" dirty="0">
                <a:solidFill>
                  <a:srgbClr val="C1FF72"/>
                </a:solidFill>
                <a:latin typeface="Orbitron" pitchFamily="34" charset="0"/>
                <a:ea typeface="Orbitron" pitchFamily="34" charset="-122"/>
                <a:cs typeface="Orbitron" pitchFamily="34" charset="-120"/>
              </a:rPr>
              <a:t>Price feed</a:t>
            </a:r>
            <a:endParaRPr lang="en-US" sz="1500" dirty="0"/>
          </a:p>
          <a:p>
            <a:pPr indent="0" marL="0">
              <a:buNone/>
            </a:pPr>
            <a:r>
              <a:rPr lang="en-US" sz="1200" dirty="0">
                <a:solidFill>
                  <a:srgbClr val="B9B0E6"/>
                </a:solidFill>
                <a:latin typeface="Orbitron" pitchFamily="34" charset="0"/>
                <a:ea typeface="Orbitron" pitchFamily="34" charset="-122"/>
                <a:cs typeface="Orbitron" pitchFamily="34" charset="-120"/>
              </a:rPr>
              <a:t>SOL/USDT, per second</a:t>
            </a:r>
            <a:endParaRPr lang="en-US" sz="1500" dirty="0"/>
          </a:p>
        </p:txBody>
      </p:sp>
      <p:sp>
        <p:nvSpPr>
          <p:cNvPr id="9" name="Arrow"/>
          <p:cNvSpPr/>
          <p:nvPr/>
        </p:nvSpPr>
        <p:spPr>
          <a:xfrm>
            <a:off x="2377440" y="2697480"/>
            <a:ext cx="0" cy="548640"/>
          </a:xfrm>
          <a:prstGeom prst="line">
            <a:avLst/>
          </a:prstGeom>
          <a:noFill/>
          <a:ln w="38100">
            <a:solidFill>
              <a:srgbClr val="C1FF72"/>
            </a:solidFill>
            <a:prstDash val="solid"/>
            <a:tailEnd type="triangle"/>
          </a:ln>
        </p:spPr>
      </p:sp>
      <p:sp>
        <p:nvSpPr>
          <p:cNvPr id="10" name="Arrow label"/>
          <p:cNvSpPr txBox="1"/>
          <p:nvPr/>
        </p:nvSpPr>
        <p:spPr>
          <a:xfrm>
            <a:off x="2514600" y="2926080"/>
            <a:ext cx="1188720" cy="274320"/>
          </a:xfrm>
          <a:prstGeom prst="rect">
            <a:avLst/>
          </a:prstGeom>
          <a:noFill/>
          <a:ln/>
        </p:spPr>
        <p:txBody>
          <a:bodyPr wrap="square" lIns="0" tIns="0" rIns="0" bIns="0" rtlCol="0" anchor="ctr"/>
          <a:lstStyle/>
          <a:p>
            <a:pPr indent="0" marL="0">
              <a:buNone/>
            </a:pPr>
            <a:r>
              <a:rPr lang="en-US" sz="900" dirty="0">
                <a:solidFill>
                  <a:srgbClr val="FF9BF5"/>
                </a:solidFill>
                <a:latin typeface="Press Start 2P" pitchFamily="34" charset="0"/>
                <a:ea typeface="Press Start 2P" pitchFamily="34" charset="-122"/>
                <a:cs typeface="Press Start 2P" pitchFamily="34" charset="-120"/>
              </a:rPr>
              <a:t>SIGN</a:t>
            </a:r>
            <a:endParaRPr lang="en-US" sz="900" dirty="0"/>
          </a:p>
        </p:txBody>
      </p:sp>
      <p:sp>
        <p:nvSpPr>
          <p:cNvPr id="11" name="Arrow"/>
          <p:cNvSpPr/>
          <p:nvPr/>
        </p:nvSpPr>
        <p:spPr>
          <a:xfrm>
            <a:off x="3749040" y="3703320"/>
            <a:ext cx="960120" cy="0"/>
          </a:xfrm>
          <a:prstGeom prst="line">
            <a:avLst/>
          </a:prstGeom>
          <a:noFill/>
          <a:ln w="38100">
            <a:solidFill>
              <a:srgbClr val="C1FF72"/>
            </a:solidFill>
            <a:prstDash val="solid"/>
            <a:tailEnd type="triangle"/>
          </a:ln>
        </p:spPr>
      </p:sp>
      <p:sp>
        <p:nvSpPr>
          <p:cNvPr id="12" name="Arrow label"/>
          <p:cNvSpPr txBox="1"/>
          <p:nvPr/>
        </p:nvSpPr>
        <p:spPr>
          <a:xfrm>
            <a:off x="3931920" y="3337560"/>
            <a:ext cx="1188720" cy="274320"/>
          </a:xfrm>
          <a:prstGeom prst="rect">
            <a:avLst/>
          </a:prstGeom>
          <a:noFill/>
          <a:ln/>
        </p:spPr>
        <p:txBody>
          <a:bodyPr wrap="square" lIns="0" tIns="0" rIns="0" bIns="0" rtlCol="0" anchor="ctr"/>
          <a:lstStyle/>
          <a:p>
            <a:pPr indent="0" marL="0">
              <a:buNone/>
            </a:pPr>
            <a:r>
              <a:rPr lang="en-US" sz="900" dirty="0">
                <a:solidFill>
                  <a:srgbClr val="FF9BF5"/>
                </a:solidFill>
                <a:latin typeface="Press Start 2P" pitchFamily="34" charset="0"/>
                <a:ea typeface="Press Start 2P" pitchFamily="34" charset="-122"/>
                <a:cs typeface="Press Start 2P" pitchFamily="34" charset="-120"/>
              </a:rPr>
              <a:t>STAKE</a:t>
            </a:r>
            <a:endParaRPr lang="en-US" sz="900" dirty="0"/>
          </a:p>
        </p:txBody>
      </p:sp>
      <p:sp>
        <p:nvSpPr>
          <p:cNvPr id="13" name="Arrow"/>
          <p:cNvSpPr/>
          <p:nvPr/>
        </p:nvSpPr>
        <p:spPr>
          <a:xfrm flipH="1">
            <a:off x="8412480" y="3703320"/>
            <a:ext cx="-960120" cy="0"/>
          </a:xfrm>
          <a:prstGeom prst="line">
            <a:avLst/>
          </a:prstGeom>
          <a:noFill/>
          <a:ln w="38100">
            <a:solidFill>
              <a:srgbClr val="C1FF72"/>
            </a:solidFill>
            <a:prstDash val="solid"/>
            <a:tailEnd type="triangle"/>
          </a:ln>
        </p:spPr>
      </p:sp>
      <p:sp>
        <p:nvSpPr>
          <p:cNvPr id="14" name="Arrow label"/>
          <p:cNvSpPr txBox="1"/>
          <p:nvPr/>
        </p:nvSpPr>
        <p:spPr>
          <a:xfrm>
            <a:off x="7635240" y="3337560"/>
            <a:ext cx="1188720" cy="274320"/>
          </a:xfrm>
          <a:prstGeom prst="rect">
            <a:avLst/>
          </a:prstGeom>
          <a:noFill/>
          <a:ln/>
        </p:spPr>
        <p:txBody>
          <a:bodyPr wrap="square" lIns="0" tIns="0" rIns="0" bIns="0" rtlCol="0" anchor="ctr"/>
          <a:lstStyle/>
          <a:p>
            <a:pPr indent="0" marL="0">
              <a:buNone/>
            </a:pPr>
            <a:r>
              <a:rPr lang="en-US" sz="900" dirty="0">
                <a:solidFill>
                  <a:srgbClr val="FF9BF5"/>
                </a:solidFill>
                <a:latin typeface="Press Start 2P" pitchFamily="34" charset="0"/>
                <a:ea typeface="Press Start 2P" pitchFamily="34" charset="-122"/>
                <a:cs typeface="Press Start 2P" pitchFamily="34" charset="-120"/>
              </a:rPr>
              <a:t>CLOSE</a:t>
            </a:r>
            <a:endParaRPr lang="en-US" sz="900" dirty="0"/>
          </a:p>
        </p:txBody>
      </p:sp>
      <p:sp>
        <p:nvSpPr>
          <p:cNvPr id="15" name="Arrow"/>
          <p:cNvSpPr/>
          <p:nvPr/>
        </p:nvSpPr>
        <p:spPr>
          <a:xfrm flipV="1">
            <a:off x="9784080" y="4709160"/>
            <a:ext cx="0" cy="-548640"/>
          </a:xfrm>
          <a:prstGeom prst="line">
            <a:avLst/>
          </a:prstGeom>
          <a:noFill/>
          <a:ln w="38100">
            <a:solidFill>
              <a:srgbClr val="C1FF72"/>
            </a:solidFill>
            <a:prstDash val="solid"/>
            <a:tailEnd type="triangle"/>
          </a:ln>
        </p:spPr>
      </p:sp>
      <p:sp>
        <p:nvSpPr>
          <p:cNvPr id="16" name="Arrow label"/>
          <p:cNvSpPr txBox="1"/>
          <p:nvPr/>
        </p:nvSpPr>
        <p:spPr>
          <a:xfrm>
            <a:off x="9921240" y="4251960"/>
            <a:ext cx="1188720" cy="274320"/>
          </a:xfrm>
          <a:prstGeom prst="rect">
            <a:avLst/>
          </a:prstGeom>
          <a:noFill/>
          <a:ln/>
        </p:spPr>
        <p:txBody>
          <a:bodyPr wrap="square" lIns="0" tIns="0" rIns="0" bIns="0" rtlCol="0" anchor="ctr"/>
          <a:lstStyle/>
          <a:p>
            <a:pPr indent="0" marL="0">
              <a:buNone/>
            </a:pPr>
            <a:r>
              <a:rPr lang="en-US" sz="900" dirty="0">
                <a:solidFill>
                  <a:srgbClr val="FF9BF5"/>
                </a:solidFill>
                <a:latin typeface="Press Start 2P" pitchFamily="34" charset="0"/>
                <a:ea typeface="Press Start 2P" pitchFamily="34" charset="-122"/>
                <a:cs typeface="Press Start 2P" pitchFamily="34" charset="-120"/>
              </a:rPr>
              <a:t>PRICES</a:t>
            </a:r>
            <a:endParaRPr lang="en-US" sz="900" dirty="0"/>
          </a:p>
        </p:txBody>
      </p:sp>
      <p:sp>
        <p:nvSpPr>
          <p:cNvPr id="17" name="Card shadow"/>
          <p:cNvSpPr/>
          <p:nvPr/>
        </p:nvSpPr>
        <p:spPr>
          <a:xfrm>
            <a:off x="722376" y="5888736"/>
            <a:ext cx="10820095" cy="731520"/>
          </a:xfrm>
          <a:prstGeom prst="roundRect">
            <a:avLst>
              <a:gd name="adj" fmla="val 17500"/>
            </a:avLst>
          </a:prstGeom>
          <a:solidFill>
            <a:srgbClr val="C1FF72"/>
          </a:solidFill>
          <a:ln w="12700">
            <a:solidFill>
              <a:srgbClr val="C1FF72"/>
            </a:solidFill>
            <a:prstDash val="solid"/>
          </a:ln>
        </p:spPr>
      </p:sp>
      <p:sp>
        <p:nvSpPr>
          <p:cNvPr id="18" name="Program id"/>
          <p:cNvSpPr/>
          <p:nvPr/>
        </p:nvSpPr>
        <p:spPr>
          <a:xfrm>
            <a:off x="640080" y="5806440"/>
            <a:ext cx="10820095" cy="731520"/>
          </a:xfrm>
          <a:prstGeom prst="roundRect">
            <a:avLst>
              <a:gd name="adj" fmla="val 17500"/>
            </a:avLst>
          </a:prstGeom>
          <a:solidFill>
            <a:srgbClr val="140A5C"/>
          </a:solidFill>
          <a:ln w="31750">
            <a:solidFill>
              <a:srgbClr val="C1FF72"/>
            </a:solidFill>
          </a:ln>
        </p:spPr>
        <p:txBody>
          <a:bodyPr wrap="square" lIns="139700" tIns="177800" rIns="177800" bIns="139700" rtlCol="0" anchor="t"/>
          <a:lstStyle/>
          <a:p>
            <a:pPr indent="0" marL="0">
              <a:buNone/>
            </a:pPr>
            <a:r>
              <a:rPr lang="en-US" sz="1200" b="1" dirty="0">
                <a:solidFill>
                  <a:srgbClr val="C1FF72"/>
                </a:solidFill>
                <a:latin typeface="Orbitron" pitchFamily="34" charset="0"/>
                <a:ea typeface="Orbitron" pitchFamily="34" charset="-122"/>
                <a:cs typeface="Orbitron" pitchFamily="34" charset="-120"/>
              </a:rPr>
              <a:t>Program   </a:t>
            </a:r>
            <a:pPr indent="0" marL="0">
              <a:buNone/>
            </a:pPr>
            <a:r>
              <a:rPr lang="en-US" sz="900" dirty="0">
                <a:solidFill>
                  <a:srgbClr val="F4F0FF"/>
                </a:solidFill>
                <a:latin typeface="Press Start 2P" pitchFamily="34" charset="0"/>
                <a:ea typeface="Press Start 2P" pitchFamily="34" charset="-122"/>
                <a:cs typeface="Press Start 2P" pitchFamily="34" charset="-120"/>
              </a:rPr>
              <a:t>FYHebuyTZwg2JWaHTHtRY7xCYgEHpiX1Frq98Awzkhtu</a:t>
            </a:r>
            <a:pPr indent="0" marL="0">
              <a:buNone/>
            </a:pPr>
            <a:r>
              <a:rPr lang="en-US" sz="1200" b="1" dirty="0">
                <a:solidFill>
                  <a:srgbClr val="C1FF72"/>
                </a:solidFill>
                <a:latin typeface="Orbitron" pitchFamily="34" charset="0"/>
                <a:ea typeface="Orbitron" pitchFamily="34" charset="-122"/>
                <a:cs typeface="Orbitron" pitchFamily="34" charset="-120"/>
              </a:rPr>
              <a:t>     Cluster </a:t>
            </a:r>
            <a:pPr indent="0" marL="0">
              <a:buNone/>
            </a:pPr>
            <a:r>
              <a:rPr lang="en-US" sz="1200" dirty="0">
                <a:solidFill>
                  <a:srgbClr val="F4F0FF"/>
                </a:solidFill>
                <a:latin typeface="Orbitron" pitchFamily="34" charset="0"/>
                <a:ea typeface="Orbitron" pitchFamily="34" charset="-122"/>
                <a:cs typeface="Orbitron" pitchFamily="34" charset="-120"/>
              </a:rPr>
              <a:t>Solana devnet</a:t>
            </a:r>
            <a:endParaRPr lang="en-US" sz="1400" dirty="0"/>
          </a:p>
        </p:txBody>
      </p:sp>
      <p:sp>
        <p:nvSpPr>
          <p:cNvPr id="25" name="Slide Number Placeholder 0"/>
          <p:cNvSpPr>
            <a:spLocks noGrp="1"/>
          </p:cNvSpPr>
          <p:nvPr>
            <p:ph type="sldNum" sz="quarter" idx="4294967295"/>
          </p:nvPr>
        </p:nvSpPr>
        <p:spPr>
          <a:xfrm>
            <a:off x="1115568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1FF72"/>
                </a:solidFill>
                <a:latin typeface="Press Start 2P"/>
                <a:ea typeface="Press Start 2P"/>
                <a:cs typeface="Press Start 2P"/>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ag"/>
          <p:cNvSpPr txBox="1"/>
          <p:nvPr/>
        </p:nvSpPr>
        <p:spPr>
          <a:xfrm>
            <a:off x="640080" y="502920"/>
            <a:ext cx="10911535" cy="274320"/>
          </a:xfrm>
          <a:prstGeom prst="rect">
            <a:avLst/>
          </a:prstGeom>
          <a:noFill/>
          <a:ln/>
        </p:spPr>
        <p:txBody>
          <a:bodyPr wrap="square" lIns="0" tIns="0" rIns="0" bIns="0" rtlCol="0" anchor="ctr"/>
          <a:lstStyle/>
          <a:p>
            <a:pPr indent="0" marL="0">
              <a:buNone/>
            </a:pPr>
            <a:r>
              <a:rPr lang="en-US" sz="1000" dirty="0">
                <a:solidFill>
                  <a:schemeClr val="accent1"/>
                </a:solidFill>
                <a:latin typeface="Press Start 2P" pitchFamily="34" charset="0"/>
                <a:ea typeface="Press Start 2P" pitchFamily="34" charset="-122"/>
                <a:cs typeface="Press Start 2P" pitchFamily="34" charset="-120"/>
              </a:rPr>
              <a:t>TRUST MODEL</a:t>
            </a:r>
            <a:endParaRPr lang="en-US" sz="1000" dirty="0"/>
          </a:p>
        </p:txBody>
      </p:sp>
      <p:sp>
        <p:nvSpPr>
          <p:cNvPr id="3" name="Title"/>
          <p:cNvSpPr txBox="1"/>
          <p:nvPr/>
        </p:nvSpPr>
        <p:spPr>
          <a:xfrm>
            <a:off x="640080" y="868680"/>
            <a:ext cx="10911535" cy="1005840"/>
          </a:xfrm>
          <a:prstGeom prst="rect">
            <a:avLst/>
          </a:prstGeom>
          <a:noFill/>
          <a:ln/>
        </p:spPr>
        <p:txBody>
          <a:bodyPr wrap="square" lIns="0" tIns="0" rIns="0" bIns="0" rtlCol="0" anchor="t">
            <a:normAutofit/>
          </a:bodyPr>
          <a:lstStyle/>
          <a:p>
            <a:pPr indent="0" marL="0">
              <a:buNone/>
            </a:pPr>
            <a:r>
              <a:rPr lang="en-US" sz="3400" b="1" i="1" dirty="0">
                <a:solidFill>
                  <a:schemeClr val="accent1"/>
                </a:solidFill>
                <a:latin typeface="Orbitron" pitchFamily="34" charset="0"/>
                <a:ea typeface="Orbitron" pitchFamily="34" charset="-122"/>
                <a:cs typeface="Orbitron" pitchFamily="34" charset="-120"/>
              </a:rPr>
              <a:t>What is checked, and what is still trusted</a:t>
            </a:r>
            <a:endParaRPr lang="en-US" sz="3400" dirty="0"/>
          </a:p>
        </p:txBody>
      </p:sp>
      <p:sp>
        <p:nvSpPr>
          <p:cNvPr id="4" name="Card shadow"/>
          <p:cNvSpPr/>
          <p:nvPr/>
        </p:nvSpPr>
        <p:spPr>
          <a:xfrm>
            <a:off x="722376" y="2322576"/>
            <a:ext cx="5349240" cy="3566160"/>
          </a:xfrm>
          <a:prstGeom prst="roundRect">
            <a:avLst>
              <a:gd name="adj" fmla="val 3590"/>
            </a:avLst>
          </a:prstGeom>
          <a:solidFill>
            <a:srgbClr val="C1FF72"/>
          </a:solidFill>
          <a:ln w="12700">
            <a:solidFill>
              <a:srgbClr val="C1FF72"/>
            </a:solidFill>
            <a:prstDash val="solid"/>
          </a:ln>
        </p:spPr>
      </p:sp>
      <p:sp>
        <p:nvSpPr>
          <p:cNvPr id="5" name="Enforced"/>
          <p:cNvSpPr/>
          <p:nvPr/>
        </p:nvSpPr>
        <p:spPr>
          <a:xfrm>
            <a:off x="640080" y="2240280"/>
            <a:ext cx="5349240" cy="3566160"/>
          </a:xfrm>
          <a:prstGeom prst="roundRect">
            <a:avLst>
              <a:gd name="adj" fmla="val 3590"/>
            </a:avLst>
          </a:prstGeom>
          <a:solidFill>
            <a:srgbClr val="140A5C"/>
          </a:solidFill>
          <a:ln w="31750">
            <a:solidFill>
              <a:srgbClr val="C1FF72"/>
            </a:solidFill>
          </a:ln>
        </p:spPr>
        <p:txBody>
          <a:bodyPr wrap="square" lIns="139700" tIns="177800" rIns="177800" bIns="139700" rtlCol="0" anchor="t"/>
          <a:lstStyle/>
          <a:p>
            <a:pPr indent="0" marL="0">
              <a:spcAft>
                <a:spcPts val="600"/>
              </a:spcAft>
              <a:buNone/>
            </a:pPr>
            <a:r>
              <a:rPr lang="en-US" sz="1600" b="1" dirty="0">
                <a:solidFill>
                  <a:srgbClr val="C1FF72"/>
                </a:solidFill>
                <a:latin typeface="Orbitron" pitchFamily="34" charset="0"/>
                <a:ea typeface="Orbitron" pitchFamily="34" charset="-122"/>
                <a:cs typeface="Orbitron" pitchFamily="34" charset="-120"/>
              </a:rPr>
              <a:t>Enforced on-chain</a:t>
            </a:r>
            <a:endParaRPr lang="en-US" sz="1400" dirty="0"/>
          </a:p>
          <a:p>
            <a:pPr marL="342900" indent="-342900">
              <a:spcAft>
                <a:spcPts val="800"/>
              </a:spcAft>
              <a:buSzPct val="100000"/>
              <a:buChar char="•"/>
            </a:pPr>
            <a:r>
              <a:rPr lang="en-US" sz="1400" dirty="0">
                <a:solidFill>
                  <a:srgbClr val="F4F0FF"/>
                </a:solidFill>
                <a:latin typeface="Orbitron" pitchFamily="34" charset="0"/>
                <a:ea typeface="Orbitron" pitchFamily="34" charset="-122"/>
                <a:cs typeface="Orbitron" pitchFamily="34" charset="-120"/>
              </a:rPr>
              <a:t>Only the settler key can close a position, and only after 60 seconds</a:t>
            </a:r>
            <a:endParaRPr lang="en-US" sz="1400" dirty="0"/>
          </a:p>
          <a:p>
            <a:pPr marL="342900" indent="-342900">
              <a:spcAft>
                <a:spcPts val="800"/>
              </a:spcAft>
              <a:buSzPct val="100000"/>
              <a:buChar char="•"/>
            </a:pPr>
            <a:r>
              <a:rPr lang="en-US" sz="1400" dirty="0">
                <a:solidFill>
                  <a:srgbClr val="F4F0FF"/>
                </a:solidFill>
                <a:latin typeface="Orbitron" pitchFamily="34" charset="0"/>
                <a:ea typeface="Orbitron" pitchFamily="34" charset="-122"/>
                <a:cs typeface="Orbitron" pitchFamily="34" charset="-120"/>
              </a:rPr>
              <a:t>PnL is bounded to between your stake lost and stake x leverage</a:t>
            </a:r>
            <a:endParaRPr lang="en-US" sz="1400" dirty="0"/>
          </a:p>
          <a:p>
            <a:pPr marL="342900" indent="-342900">
              <a:spcAft>
                <a:spcPts val="800"/>
              </a:spcAft>
              <a:buSzPct val="100000"/>
              <a:buChar char="•"/>
            </a:pPr>
            <a:r>
              <a:rPr lang="en-US" sz="1400" dirty="0">
                <a:solidFill>
                  <a:srgbClr val="F4F0FF"/>
                </a:solidFill>
                <a:latin typeface="Orbitron" pitchFamily="34" charset="0"/>
                <a:ea typeface="Orbitron" pitchFamily="34" charset="-122"/>
                <a:cs typeface="Orbitron" pitchFamily="34" charset="-120"/>
              </a:rPr>
              <a:t>The drawing's hash is stored before the round starts; a different drawing is rejected</a:t>
            </a:r>
            <a:endParaRPr lang="en-US" sz="1400" dirty="0"/>
          </a:p>
          <a:p>
            <a:pPr marL="342900" indent="-342900">
              <a:spcAft>
                <a:spcPts val="800"/>
              </a:spcAft>
              <a:buSzPct val="100000"/>
              <a:buChar char="•"/>
            </a:pPr>
            <a:r>
              <a:rPr lang="en-US" sz="1400" dirty="0">
                <a:solidFill>
                  <a:srgbClr val="F4F0FF"/>
                </a:solidFill>
                <a:latin typeface="Orbitron" pitchFamily="34" charset="0"/>
                <a:ea typeface="Orbitron" pitchFamily="34" charset="-122"/>
                <a:cs typeface="Orbitron" pitchFamily="34" charset="-120"/>
              </a:rPr>
              <a:t>Fee on profit only, pause switch, a vault that cannot go below rent</a:t>
            </a:r>
            <a:endParaRPr lang="en-US" sz="1400" dirty="0"/>
          </a:p>
        </p:txBody>
      </p:sp>
      <p:sp>
        <p:nvSpPr>
          <p:cNvPr id="6" name="Card shadow"/>
          <p:cNvSpPr/>
          <p:nvPr/>
        </p:nvSpPr>
        <p:spPr>
          <a:xfrm>
            <a:off x="6391656" y="2322576"/>
            <a:ext cx="5349240" cy="3566160"/>
          </a:xfrm>
          <a:prstGeom prst="roundRect">
            <a:avLst>
              <a:gd name="adj" fmla="val 3590"/>
            </a:avLst>
          </a:prstGeom>
          <a:solidFill>
            <a:srgbClr val="1800AD"/>
          </a:solidFill>
          <a:ln w="12700">
            <a:solidFill>
              <a:srgbClr val="1800AD"/>
            </a:solidFill>
            <a:prstDash val="solid"/>
          </a:ln>
        </p:spPr>
      </p:sp>
      <p:sp>
        <p:nvSpPr>
          <p:cNvPr id="7" name="Trusted"/>
          <p:cNvSpPr/>
          <p:nvPr/>
        </p:nvSpPr>
        <p:spPr>
          <a:xfrm>
            <a:off x="6309360" y="2240280"/>
            <a:ext cx="5349240" cy="3566160"/>
          </a:xfrm>
          <a:prstGeom prst="roundRect">
            <a:avLst>
              <a:gd name="adj" fmla="val 3590"/>
            </a:avLst>
          </a:prstGeom>
          <a:solidFill>
            <a:srgbClr val="0A0014"/>
          </a:solidFill>
          <a:ln w="31750">
            <a:solidFill>
              <a:srgbClr val="C1FF72"/>
            </a:solidFill>
          </a:ln>
        </p:spPr>
        <p:txBody>
          <a:bodyPr wrap="square" lIns="139700" tIns="177800" rIns="177800" bIns="139700" rtlCol="0" anchor="t"/>
          <a:lstStyle/>
          <a:p>
            <a:pPr indent="0" marL="0">
              <a:spcAft>
                <a:spcPts val="600"/>
              </a:spcAft>
              <a:buNone/>
            </a:pPr>
            <a:r>
              <a:rPr lang="en-US" sz="1600" b="1" dirty="0">
                <a:solidFill>
                  <a:srgbClr val="C1FF72"/>
                </a:solidFill>
                <a:latin typeface="Orbitron" pitchFamily="34" charset="0"/>
                <a:ea typeface="Orbitron" pitchFamily="34" charset="-122"/>
                <a:cs typeface="Orbitron" pitchFamily="34" charset="-120"/>
              </a:rPr>
              <a:t>Trusted today</a:t>
            </a:r>
            <a:endParaRPr lang="en-US" sz="1400" dirty="0"/>
          </a:p>
          <a:p>
            <a:pPr marL="342900" indent="-342900">
              <a:spcAft>
                <a:spcPts val="800"/>
              </a:spcAft>
              <a:buSzPct val="100000"/>
              <a:buChar char="•"/>
            </a:pPr>
            <a:r>
              <a:rPr lang="en-US" sz="1400" dirty="0">
                <a:solidFill>
                  <a:srgbClr val="F4F0FF"/>
                </a:solidFill>
                <a:latin typeface="Orbitron" pitchFamily="34" charset="0"/>
                <a:ea typeface="Orbitron" pitchFamily="34" charset="-122"/>
                <a:cs typeface="Orbitron" pitchFamily="34" charset="-120"/>
              </a:rPr>
              <a:t>The settler records prices from a public exchange feed and scores the round</a:t>
            </a:r>
            <a:endParaRPr lang="en-US" sz="1400" dirty="0"/>
          </a:p>
          <a:p>
            <a:pPr marL="342900" indent="-342900">
              <a:spcAft>
                <a:spcPts val="800"/>
              </a:spcAft>
              <a:buSzPct val="100000"/>
              <a:buChar char="•"/>
            </a:pPr>
            <a:r>
              <a:rPr lang="en-US" sz="1400" dirty="0">
                <a:solidFill>
                  <a:srgbClr val="F4F0FF"/>
                </a:solidFill>
                <a:latin typeface="Orbitron" pitchFamily="34" charset="0"/>
                <a:ea typeface="Orbitron" pitchFamily="34" charset="-122"/>
                <a:cs typeface="Orbitron" pitchFamily="34" charset="-120"/>
              </a:rPr>
              <a:t>One settler key, held off-device</a:t>
            </a:r>
            <a:endParaRPr lang="en-US" sz="1400" dirty="0"/>
          </a:p>
          <a:p>
            <a:pPr marL="342900" indent="-342900">
              <a:spcAft>
                <a:spcPts val="800"/>
              </a:spcAft>
              <a:buSzPct val="100000"/>
              <a:buChar char="•"/>
            </a:pPr>
            <a:r>
              <a:rPr lang="en-US" sz="1400" dirty="0">
                <a:solidFill>
                  <a:srgbClr val="F4F0FF"/>
                </a:solidFill>
                <a:latin typeface="Orbitron" pitchFamily="34" charset="0"/>
                <a:ea typeface="Orbitron" pitchFamily="34" charset="-122"/>
                <a:cs typeface="Orbitron" pitchFamily="34" charset="-120"/>
              </a:rPr>
              <a:t>Emergency withdraw exists, as a demo-stage switch</a:t>
            </a:r>
            <a:pPr indent="0" marL="0">
              <a:buNone/>
            </a:pPr>
            <a:r>
              <a:rPr lang="en-US" sz="1400" dirty="0">
                <a:solidFill>
                  <a:srgbClr val="B9B0E6"/>
                </a:solidFill>
                <a:latin typeface="Orbitron" pitchFamily="34" charset="0"/>
                <a:ea typeface="Orbitron" pitchFamily="34" charset="-122"/>
                <a:cs typeface="Orbitron" pitchFamily="34" charset="-120"/>
              </a:rPr>
              <a:t>Next: read prices from an on-chain oracle so the score can be checked by anyone.</a:t>
            </a:r>
            <a:endParaRPr lang="en-US" sz="1400" dirty="0"/>
          </a:p>
        </p:txBody>
      </p:sp>
      <p:sp>
        <p:nvSpPr>
          <p:cNvPr id="25" name="Slide Number Placeholder 0"/>
          <p:cNvSpPr>
            <a:spLocks noGrp="1"/>
          </p:cNvSpPr>
          <p:nvPr>
            <p:ph type="sldNum" sz="quarter" idx="4294967295"/>
          </p:nvPr>
        </p:nvSpPr>
        <p:spPr>
          <a:xfrm>
            <a:off x="1115568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1FF72"/>
                </a:solidFill>
                <a:latin typeface="Press Start 2P"/>
                <a:ea typeface="Press Start 2P"/>
                <a:cs typeface="Press Start 2P"/>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ag"/>
          <p:cNvSpPr txBox="1"/>
          <p:nvPr/>
        </p:nvSpPr>
        <p:spPr>
          <a:xfrm>
            <a:off x="640080" y="502920"/>
            <a:ext cx="10911535" cy="274320"/>
          </a:xfrm>
          <a:prstGeom prst="rect">
            <a:avLst/>
          </a:prstGeom>
          <a:noFill/>
          <a:ln/>
        </p:spPr>
        <p:txBody>
          <a:bodyPr wrap="square" lIns="0" tIns="0" rIns="0" bIns="0" rtlCol="0" anchor="ctr"/>
          <a:lstStyle/>
          <a:p>
            <a:pPr indent="0" marL="0">
              <a:buNone/>
            </a:pPr>
            <a:r>
              <a:rPr lang="en-US" sz="1000" dirty="0">
                <a:solidFill>
                  <a:schemeClr val="accent1"/>
                </a:solidFill>
                <a:latin typeface="Press Start 2P" pitchFamily="34" charset="0"/>
                <a:ea typeface="Press Start 2P" pitchFamily="34" charset="-122"/>
                <a:cs typeface="Press Start 2P" pitchFamily="34" charset="-120"/>
              </a:rPr>
              <a:t>WHY PEOPLE COME BACK</a:t>
            </a:r>
            <a:endParaRPr lang="en-US" sz="1000" dirty="0"/>
          </a:p>
        </p:txBody>
      </p:sp>
      <p:sp>
        <p:nvSpPr>
          <p:cNvPr id="3" name="Title"/>
          <p:cNvSpPr txBox="1"/>
          <p:nvPr/>
        </p:nvSpPr>
        <p:spPr>
          <a:xfrm>
            <a:off x="640080" y="868680"/>
            <a:ext cx="10911535" cy="1005840"/>
          </a:xfrm>
          <a:prstGeom prst="rect">
            <a:avLst/>
          </a:prstGeom>
          <a:noFill/>
          <a:ln/>
        </p:spPr>
        <p:txBody>
          <a:bodyPr wrap="square" lIns="0" tIns="0" rIns="0" bIns="0" rtlCol="0" anchor="t">
            <a:normAutofit/>
          </a:bodyPr>
          <a:lstStyle/>
          <a:p>
            <a:pPr indent="0" marL="0">
              <a:buNone/>
            </a:pPr>
            <a:r>
              <a:rPr lang="en-US" sz="3400" b="1" i="1" dirty="0">
                <a:solidFill>
                  <a:schemeClr val="accent1"/>
                </a:solidFill>
                <a:latin typeface="Orbitron" pitchFamily="34" charset="0"/>
                <a:ea typeface="Orbitron" pitchFamily="34" charset="-122"/>
                <a:cs typeface="Orbitron" pitchFamily="34" charset="-120"/>
              </a:rPr>
              <a:t>One minute at a time. Easy to do twice</a:t>
            </a:r>
            <a:endParaRPr lang="en-US" sz="3400" dirty="0"/>
          </a:p>
        </p:txBody>
      </p:sp>
      <p:sp>
        <p:nvSpPr>
          <p:cNvPr id="4" name="Card shadow"/>
          <p:cNvSpPr/>
          <p:nvPr/>
        </p:nvSpPr>
        <p:spPr>
          <a:xfrm>
            <a:off x="722376" y="2185416"/>
            <a:ext cx="5852160" cy="1188720"/>
          </a:xfrm>
          <a:prstGeom prst="roundRect">
            <a:avLst>
              <a:gd name="adj" fmla="val 10769"/>
            </a:avLst>
          </a:prstGeom>
          <a:solidFill>
            <a:srgbClr val="1800AD"/>
          </a:solidFill>
          <a:ln w="12700">
            <a:solidFill>
              <a:srgbClr val="1800AD"/>
            </a:solidFill>
            <a:prstDash val="solid"/>
          </a:ln>
        </p:spPr>
      </p:sp>
      <p:sp>
        <p:nvSpPr>
          <p:cNvPr id="5" name="Card"/>
          <p:cNvSpPr/>
          <p:nvPr/>
        </p:nvSpPr>
        <p:spPr>
          <a:xfrm>
            <a:off x="640080" y="2103120"/>
            <a:ext cx="5852160" cy="1188720"/>
          </a:xfrm>
          <a:prstGeom prst="roundRect">
            <a:avLst>
              <a:gd name="adj" fmla="val 10769"/>
            </a:avLst>
          </a:prstGeom>
          <a:solidFill>
            <a:srgbClr val="0A0014"/>
          </a:solidFill>
          <a:ln w="31750">
            <a:solidFill>
              <a:srgbClr val="C1FF72"/>
            </a:solidFill>
          </a:ln>
        </p:spPr>
        <p:txBody>
          <a:bodyPr wrap="square" lIns="139700" tIns="177800" rIns="177800" bIns="139700" rtlCol="0" anchor="t"/>
          <a:lstStyle/>
          <a:p>
            <a:pPr indent="0" marL="0">
              <a:spcAft>
                <a:spcPts val="600"/>
              </a:spcAft>
              <a:buNone/>
            </a:pPr>
            <a:r>
              <a:rPr lang="en-US" sz="1600" b="1" dirty="0">
                <a:solidFill>
                  <a:srgbClr val="C1FF72"/>
                </a:solidFill>
                <a:latin typeface="Orbitron" pitchFamily="34" charset="0"/>
                <a:ea typeface="Orbitron" pitchFamily="34" charset="-122"/>
                <a:cs typeface="Orbitron" pitchFamily="34" charset="-120"/>
              </a:rPr>
              <a:t>A loop you can finish on a bus</a:t>
            </a:r>
            <a:endParaRPr lang="en-US" sz="1400" dirty="0"/>
          </a:p>
          <a:p>
            <a:pPr indent="0" marL="0">
              <a:buNone/>
            </a:pPr>
            <a:r>
              <a:rPr lang="en-US" sz="1400" dirty="0">
                <a:solidFill>
                  <a:srgbClr val="B9B0E6"/>
                </a:solidFill>
                <a:latin typeface="Orbitron" pitchFamily="34" charset="0"/>
                <a:ea typeface="Orbitron" pitchFamily="34" charset="-122"/>
                <a:cs typeface="Orbitron" pitchFamily="34" charset="-120"/>
              </a:rPr>
              <a:t>Every position is 60 seconds. Stack up to five back to back with one approval.</a:t>
            </a:r>
            <a:endParaRPr lang="en-US" sz="1400" dirty="0"/>
          </a:p>
        </p:txBody>
      </p:sp>
      <p:sp>
        <p:nvSpPr>
          <p:cNvPr id="6" name="Card shadow"/>
          <p:cNvSpPr/>
          <p:nvPr/>
        </p:nvSpPr>
        <p:spPr>
          <a:xfrm>
            <a:off x="722376" y="3557016"/>
            <a:ext cx="5852160" cy="1188720"/>
          </a:xfrm>
          <a:prstGeom prst="roundRect">
            <a:avLst>
              <a:gd name="adj" fmla="val 10769"/>
            </a:avLst>
          </a:prstGeom>
          <a:solidFill>
            <a:srgbClr val="1800AD"/>
          </a:solidFill>
          <a:ln w="12700">
            <a:solidFill>
              <a:srgbClr val="1800AD"/>
            </a:solidFill>
            <a:prstDash val="solid"/>
          </a:ln>
        </p:spPr>
      </p:sp>
      <p:sp>
        <p:nvSpPr>
          <p:cNvPr id="7" name="Card"/>
          <p:cNvSpPr/>
          <p:nvPr/>
        </p:nvSpPr>
        <p:spPr>
          <a:xfrm>
            <a:off x="640080" y="3474720"/>
            <a:ext cx="5852160" cy="1188720"/>
          </a:xfrm>
          <a:prstGeom prst="roundRect">
            <a:avLst>
              <a:gd name="adj" fmla="val 10769"/>
            </a:avLst>
          </a:prstGeom>
          <a:solidFill>
            <a:srgbClr val="0A0014"/>
          </a:solidFill>
          <a:ln w="31750">
            <a:solidFill>
              <a:srgbClr val="C1FF72"/>
            </a:solidFill>
          </a:ln>
        </p:spPr>
        <p:txBody>
          <a:bodyPr wrap="square" lIns="139700" tIns="177800" rIns="177800" bIns="139700" rtlCol="0" anchor="t"/>
          <a:lstStyle/>
          <a:p>
            <a:pPr indent="0" marL="0">
              <a:spcAft>
                <a:spcPts val="600"/>
              </a:spcAft>
              <a:buNone/>
            </a:pPr>
            <a:r>
              <a:rPr lang="en-US" sz="1600" b="1" dirty="0">
                <a:solidFill>
                  <a:srgbClr val="C1FF72"/>
                </a:solidFill>
                <a:latin typeface="Orbitron" pitchFamily="34" charset="0"/>
                <a:ea typeface="Orbitron" pitchFamily="34" charset="-122"/>
                <a:cs typeface="Orbitron" pitchFamily="34" charset="-120"/>
              </a:rPr>
              <a:t>Streaks and a daily bonus</a:t>
            </a:r>
            <a:endParaRPr lang="en-US" sz="1400" dirty="0"/>
          </a:p>
          <a:p>
            <a:pPr indent="0" marL="0">
              <a:buNone/>
            </a:pPr>
            <a:r>
              <a:rPr lang="en-US" sz="1400" dirty="0">
                <a:solidFill>
                  <a:srgbClr val="B9B0E6"/>
                </a:solidFill>
                <a:latin typeface="Orbitron" pitchFamily="34" charset="0"/>
                <a:ea typeface="Orbitron" pitchFamily="34" charset="-122"/>
                <a:cs typeface="Orbitron" pitchFamily="34" charset="-120"/>
              </a:rPr>
              <a:t>Play on consecutive days to build a streak and claim play currency.</a:t>
            </a:r>
            <a:endParaRPr lang="en-US" sz="1400" dirty="0"/>
          </a:p>
        </p:txBody>
      </p:sp>
      <p:sp>
        <p:nvSpPr>
          <p:cNvPr id="8" name="Card shadow"/>
          <p:cNvSpPr/>
          <p:nvPr/>
        </p:nvSpPr>
        <p:spPr>
          <a:xfrm>
            <a:off x="722376" y="4928616"/>
            <a:ext cx="5852160" cy="1188720"/>
          </a:xfrm>
          <a:prstGeom prst="roundRect">
            <a:avLst>
              <a:gd name="adj" fmla="val 10769"/>
            </a:avLst>
          </a:prstGeom>
          <a:solidFill>
            <a:srgbClr val="1800AD"/>
          </a:solidFill>
          <a:ln w="12700">
            <a:solidFill>
              <a:srgbClr val="1800AD"/>
            </a:solidFill>
            <a:prstDash val="solid"/>
          </a:ln>
        </p:spPr>
      </p:sp>
      <p:sp>
        <p:nvSpPr>
          <p:cNvPr id="9" name="Card"/>
          <p:cNvSpPr/>
          <p:nvPr/>
        </p:nvSpPr>
        <p:spPr>
          <a:xfrm>
            <a:off x="640080" y="4846320"/>
            <a:ext cx="5852160" cy="1188720"/>
          </a:xfrm>
          <a:prstGeom prst="roundRect">
            <a:avLst>
              <a:gd name="adj" fmla="val 10769"/>
            </a:avLst>
          </a:prstGeom>
          <a:solidFill>
            <a:srgbClr val="0A0014"/>
          </a:solidFill>
          <a:ln w="31750">
            <a:solidFill>
              <a:srgbClr val="C1FF72"/>
            </a:solidFill>
          </a:ln>
        </p:spPr>
        <p:txBody>
          <a:bodyPr wrap="square" lIns="139700" tIns="177800" rIns="177800" bIns="139700" rtlCol="0" anchor="t"/>
          <a:lstStyle/>
          <a:p>
            <a:pPr indent="0" marL="0">
              <a:spcAft>
                <a:spcPts val="600"/>
              </a:spcAft>
              <a:buNone/>
            </a:pPr>
            <a:r>
              <a:rPr lang="en-US" sz="1600" b="1" dirty="0">
                <a:solidFill>
                  <a:srgbClr val="C1FF72"/>
                </a:solidFill>
                <a:latin typeface="Orbitron" pitchFamily="34" charset="0"/>
                <a:ea typeface="Orbitron" pitchFamily="34" charset="-122"/>
                <a:cs typeface="Orbitron" pitchFamily="34" charset="-120"/>
              </a:rPr>
              <a:t>Practice with NYAN</a:t>
            </a:r>
            <a:endParaRPr lang="en-US" sz="1400" dirty="0"/>
          </a:p>
          <a:p>
            <a:pPr indent="0" marL="0">
              <a:buNone/>
            </a:pPr>
            <a:r>
              <a:rPr lang="en-US" sz="1400" dirty="0">
                <a:solidFill>
                  <a:srgbClr val="B9B0E6"/>
                </a:solidFill>
                <a:latin typeface="Orbitron" pitchFamily="34" charset="0"/>
                <a:ea typeface="Orbitron" pitchFamily="34" charset="-122"/>
                <a:cs typeface="Orbitron" pitchFamily="34" charset="-120"/>
              </a:rPr>
              <a:t>No wallet or funds needed to learn the feel. Switch to devnet SOL when ready.</a:t>
            </a:r>
            <a:endParaRPr lang="en-US" sz="1400" dirty="0"/>
          </a:p>
        </p:txBody>
      </p:sp>
      <p:sp>
        <p:nvSpPr>
          <p:cNvPr id="10" name="Card shadow"/>
          <p:cNvSpPr/>
          <p:nvPr/>
        </p:nvSpPr>
        <p:spPr>
          <a:xfrm>
            <a:off x="7123176" y="2185416"/>
            <a:ext cx="4526280" cy="2651760"/>
          </a:xfrm>
          <a:prstGeom prst="roundRect">
            <a:avLst>
              <a:gd name="adj" fmla="val 4828"/>
            </a:avLst>
          </a:prstGeom>
          <a:solidFill>
            <a:srgbClr val="C1FF72"/>
          </a:solidFill>
          <a:ln w="12700">
            <a:solidFill>
              <a:srgbClr val="C1FF72"/>
            </a:solidFill>
            <a:prstDash val="solid"/>
          </a:ln>
        </p:spPr>
      </p:sp>
      <p:sp>
        <p:nvSpPr>
          <p:cNvPr id="11" name="Horizon"/>
          <p:cNvSpPr/>
          <p:nvPr/>
        </p:nvSpPr>
        <p:spPr>
          <a:xfrm>
            <a:off x="7040880" y="2103120"/>
            <a:ext cx="4526280" cy="2651760"/>
          </a:xfrm>
          <a:prstGeom prst="roundRect">
            <a:avLst>
              <a:gd name="adj" fmla="val 4828"/>
            </a:avLst>
          </a:prstGeom>
          <a:solidFill>
            <a:srgbClr val="140A5C"/>
          </a:solidFill>
          <a:ln w="31750">
            <a:solidFill>
              <a:srgbClr val="C1FF72"/>
            </a:solidFill>
          </a:ln>
        </p:spPr>
        <p:txBody>
          <a:bodyPr wrap="square" lIns="139700" tIns="177800" rIns="177800" bIns="139700" rtlCol="0" anchor="t"/>
          <a:lstStyle/>
          <a:p>
            <a:pPr indent="0" marL="0">
              <a:buNone/>
            </a:pPr>
            <a:r>
              <a:rPr lang="en-US" sz="1000" dirty="0">
                <a:solidFill>
                  <a:srgbClr val="C1FF72"/>
                </a:solidFill>
                <a:latin typeface="Press Start 2P" pitchFamily="34" charset="0"/>
                <a:ea typeface="Press Start 2P" pitchFamily="34" charset="-122"/>
                <a:cs typeface="Press Start 2P" pitchFamily="34" charset="-120"/>
              </a:rPr>
              <a:t>PICK YOUR HORIZON</a:t>
            </a:r>
            <a:endParaRPr lang="en-US" sz="1400" dirty="0"/>
          </a:p>
        </p:txBody>
      </p:sp>
      <p:pic>
        <p:nvPicPr>
          <p:cNvPr id="12" name="Chip 1" descr="1 minute chip">    </p:cNvPr>
          <p:cNvPicPr>
            <a:picLocks noChangeAspect="1"/>
          </p:cNvPicPr>
          <p:nvPr/>
        </p:nvPicPr>
        <p:blipFill>
          <a:blip r:embed="rId1"/>
          <a:stretch>
            <a:fillRect/>
          </a:stretch>
        </p:blipFill>
        <p:spPr>
          <a:xfrm>
            <a:off x="7269480" y="2697480"/>
            <a:ext cx="731520" cy="731520"/>
          </a:xfrm>
          <a:prstGeom prst="rect">
            <a:avLst/>
          </a:prstGeom>
        </p:spPr>
      </p:pic>
      <p:pic>
        <p:nvPicPr>
          <p:cNvPr id="13" name="Chip 2" descr="2 minute chip">    </p:cNvPr>
          <p:cNvPicPr>
            <a:picLocks noChangeAspect="1"/>
          </p:cNvPicPr>
          <p:nvPr/>
        </p:nvPicPr>
        <p:blipFill>
          <a:blip r:embed="rId2"/>
          <a:stretch>
            <a:fillRect/>
          </a:stretch>
        </p:blipFill>
        <p:spPr>
          <a:xfrm>
            <a:off x="8092440" y="2697480"/>
            <a:ext cx="731520" cy="731520"/>
          </a:xfrm>
          <a:prstGeom prst="rect">
            <a:avLst/>
          </a:prstGeom>
        </p:spPr>
      </p:pic>
      <p:pic>
        <p:nvPicPr>
          <p:cNvPr id="14" name="Chip 3" descr="3 minute chip">    </p:cNvPr>
          <p:cNvPicPr>
            <a:picLocks noChangeAspect="1"/>
          </p:cNvPicPr>
          <p:nvPr/>
        </p:nvPicPr>
        <p:blipFill>
          <a:blip r:embed="rId3"/>
          <a:stretch>
            <a:fillRect/>
          </a:stretch>
        </p:blipFill>
        <p:spPr>
          <a:xfrm>
            <a:off x="8915400" y="2697480"/>
            <a:ext cx="731520" cy="731520"/>
          </a:xfrm>
          <a:prstGeom prst="rect">
            <a:avLst/>
          </a:prstGeom>
        </p:spPr>
      </p:pic>
      <p:pic>
        <p:nvPicPr>
          <p:cNvPr id="15" name="Chip 4" descr="4 minute chip">    </p:cNvPr>
          <p:cNvPicPr>
            <a:picLocks noChangeAspect="1"/>
          </p:cNvPicPr>
          <p:nvPr/>
        </p:nvPicPr>
        <p:blipFill>
          <a:blip r:embed="rId4"/>
          <a:stretch>
            <a:fillRect/>
          </a:stretch>
        </p:blipFill>
        <p:spPr>
          <a:xfrm>
            <a:off x="9738360" y="2697480"/>
            <a:ext cx="731520" cy="731520"/>
          </a:xfrm>
          <a:prstGeom prst="rect">
            <a:avLst/>
          </a:prstGeom>
        </p:spPr>
      </p:pic>
      <p:pic>
        <p:nvPicPr>
          <p:cNvPr id="16" name="Chip 5" descr="5 minute chip">    </p:cNvPr>
          <p:cNvPicPr>
            <a:picLocks noChangeAspect="1"/>
          </p:cNvPicPr>
          <p:nvPr/>
        </p:nvPicPr>
        <p:blipFill>
          <a:blip r:embed="rId5"/>
          <a:stretch>
            <a:fillRect/>
          </a:stretch>
        </p:blipFill>
        <p:spPr>
          <a:xfrm>
            <a:off x="10561320" y="2697480"/>
            <a:ext cx="731520" cy="731520"/>
          </a:xfrm>
          <a:prstGeom prst="rect">
            <a:avLst/>
          </a:prstGeom>
        </p:spPr>
      </p:pic>
      <p:sp>
        <p:nvSpPr>
          <p:cNvPr id="17" name="Horizon note"/>
          <p:cNvSpPr txBox="1"/>
          <p:nvPr/>
        </p:nvSpPr>
        <p:spPr>
          <a:xfrm>
            <a:off x="7269480" y="3611880"/>
            <a:ext cx="4069080" cy="1005840"/>
          </a:xfrm>
          <a:prstGeom prst="rect">
            <a:avLst/>
          </a:prstGeom>
          <a:noFill/>
          <a:ln/>
        </p:spPr>
        <p:txBody>
          <a:bodyPr wrap="square" lIns="0" tIns="0" rIns="0" bIns="0" rtlCol="0" anchor="t"/>
          <a:lstStyle/>
          <a:p>
            <a:pPr indent="0" marL="0">
              <a:buNone/>
            </a:pPr>
            <a:r>
              <a:rPr lang="en-US" sz="1400" dirty="0">
                <a:solidFill>
                  <a:srgbClr val="B9B0E6"/>
                </a:solidFill>
                <a:latin typeface="Orbitron" pitchFamily="34" charset="0"/>
                <a:ea typeface="Orbitron" pitchFamily="34" charset="-122"/>
                <a:cs typeface="Orbitron" pitchFamily="34" charset="-120"/>
              </a:rPr>
              <a:t>A 3-minute pick is three 60-second positions, staked in one transaction and settled one by one.</a:t>
            </a:r>
            <a:endParaRPr lang="en-US" sz="1400" dirty="0"/>
          </a:p>
        </p:txBody>
      </p:sp>
      <p:sp>
        <p:nvSpPr>
          <p:cNvPr id="25" name="Slide Number Placeholder 0"/>
          <p:cNvSpPr>
            <a:spLocks noGrp="1"/>
          </p:cNvSpPr>
          <p:nvPr>
            <p:ph type="sldNum" sz="quarter" idx="4294967295"/>
          </p:nvPr>
        </p:nvSpPr>
        <p:spPr>
          <a:xfrm>
            <a:off x="1115568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1FF72"/>
                </a:solidFill>
                <a:latin typeface="Press Start 2P"/>
                <a:ea typeface="Press Start 2P"/>
                <a:cs typeface="Press Start 2P"/>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ag"/>
          <p:cNvSpPr txBox="1"/>
          <p:nvPr/>
        </p:nvSpPr>
        <p:spPr>
          <a:xfrm>
            <a:off x="640080" y="502920"/>
            <a:ext cx="10911535" cy="274320"/>
          </a:xfrm>
          <a:prstGeom prst="rect">
            <a:avLst/>
          </a:prstGeom>
          <a:noFill/>
          <a:ln/>
        </p:spPr>
        <p:txBody>
          <a:bodyPr wrap="square" lIns="0" tIns="0" rIns="0" bIns="0" rtlCol="0" anchor="ctr"/>
          <a:lstStyle/>
          <a:p>
            <a:pPr indent="0" marL="0">
              <a:buNone/>
            </a:pPr>
            <a:r>
              <a:rPr lang="en-US" sz="1000" dirty="0">
                <a:solidFill>
                  <a:schemeClr val="accent1"/>
                </a:solidFill>
                <a:latin typeface="Press Start 2P" pitchFamily="34" charset="0"/>
                <a:ea typeface="Press Start 2P" pitchFamily="34" charset="-122"/>
                <a:cs typeface="Press Start 2P" pitchFamily="34" charset="-120"/>
              </a:rPr>
              <a:t>WHERE IT STANDS</a:t>
            </a:r>
            <a:endParaRPr lang="en-US" sz="1000" dirty="0"/>
          </a:p>
        </p:txBody>
      </p:sp>
      <p:sp>
        <p:nvSpPr>
          <p:cNvPr id="3" name="Title"/>
          <p:cNvSpPr txBox="1"/>
          <p:nvPr/>
        </p:nvSpPr>
        <p:spPr>
          <a:xfrm>
            <a:off x="640080" y="868680"/>
            <a:ext cx="10911535" cy="1005840"/>
          </a:xfrm>
          <a:prstGeom prst="rect">
            <a:avLst/>
          </a:prstGeom>
          <a:noFill/>
          <a:ln/>
        </p:spPr>
        <p:txBody>
          <a:bodyPr wrap="square" lIns="0" tIns="0" rIns="0" bIns="0" rtlCol="0" anchor="t">
            <a:normAutofit/>
          </a:bodyPr>
          <a:lstStyle/>
          <a:p>
            <a:pPr indent="0" marL="0">
              <a:buNone/>
            </a:pPr>
            <a:r>
              <a:rPr lang="en-US" sz="3400" b="1" i="1" dirty="0">
                <a:solidFill>
                  <a:schemeClr val="accent1"/>
                </a:solidFill>
                <a:latin typeface="Orbitron" pitchFamily="34" charset="0"/>
                <a:ea typeface="Orbitron" pitchFamily="34" charset="-122"/>
                <a:cs typeface="Orbitron" pitchFamily="34" charset="-120"/>
              </a:rPr>
              <a:t>What has been run, and what has not</a:t>
            </a:r>
            <a:endParaRPr lang="en-US" sz="3400" dirty="0"/>
          </a:p>
        </p:txBody>
      </p:sp>
      <p:sp>
        <p:nvSpPr>
          <p:cNvPr id="4" name="Card shadow"/>
          <p:cNvSpPr/>
          <p:nvPr/>
        </p:nvSpPr>
        <p:spPr>
          <a:xfrm>
            <a:off x="722376" y="2139696"/>
            <a:ext cx="10820095" cy="4206240"/>
          </a:xfrm>
          <a:prstGeom prst="roundRect">
            <a:avLst>
              <a:gd name="adj" fmla="val 3043"/>
            </a:avLst>
          </a:prstGeom>
          <a:solidFill>
            <a:srgbClr val="1800AD"/>
          </a:solidFill>
          <a:ln w="12700">
            <a:solidFill>
              <a:srgbClr val="1800AD"/>
            </a:solidFill>
            <a:prstDash val="solid"/>
          </a:ln>
        </p:spPr>
      </p:sp>
      <p:sp>
        <p:nvSpPr>
          <p:cNvPr id="5" name="Status card"/>
          <p:cNvSpPr/>
          <p:nvPr/>
        </p:nvSpPr>
        <p:spPr>
          <a:xfrm>
            <a:off x="640080" y="2057400"/>
            <a:ext cx="10820095" cy="4206240"/>
          </a:xfrm>
          <a:prstGeom prst="roundRect">
            <a:avLst>
              <a:gd name="adj" fmla="val 3043"/>
            </a:avLst>
          </a:prstGeom>
          <a:solidFill>
            <a:srgbClr val="0A0014"/>
          </a:solidFill>
          <a:ln w="31750">
            <a:solidFill>
              <a:srgbClr val="C1FF72"/>
            </a:solidFill>
            <a:prstDash val="solid"/>
          </a:ln>
        </p:spPr>
      </p:sp>
      <p:sp>
        <p:nvSpPr>
          <p:cNvPr id="6" name="Status DONE"/>
          <p:cNvSpPr/>
          <p:nvPr/>
        </p:nvSpPr>
        <p:spPr>
          <a:xfrm>
            <a:off x="914400" y="2240280"/>
            <a:ext cx="868680" cy="365760"/>
          </a:xfrm>
          <a:prstGeom prst="roundRect">
            <a:avLst>
              <a:gd name="adj" fmla="val 50000"/>
            </a:avLst>
          </a:prstGeom>
          <a:solidFill>
            <a:srgbClr val="C1FF72"/>
          </a:solidFill>
          <a:ln w="25400">
            <a:solidFill>
              <a:srgbClr val="C1FF72"/>
            </a:solidFill>
          </a:ln>
        </p:spPr>
        <p:txBody>
          <a:bodyPr wrap="square" lIns="0" tIns="0" rIns="0" bIns="0" rtlCol="0" anchor="ctr"/>
          <a:lstStyle/>
          <a:p>
            <a:pPr algn="ctr" indent="0" marL="0">
              <a:buNone/>
            </a:pPr>
            <a:r>
              <a:rPr lang="en-US" sz="900" dirty="0">
                <a:solidFill>
                  <a:srgbClr val="1800AD"/>
                </a:solidFill>
                <a:latin typeface="Press Start 2P" pitchFamily="34" charset="0"/>
                <a:ea typeface="Press Start 2P" pitchFamily="34" charset="-122"/>
                <a:cs typeface="Press Start 2P" pitchFamily="34" charset="-120"/>
              </a:rPr>
              <a:t>DONE</a:t>
            </a:r>
            <a:endParaRPr lang="en-US" sz="900" dirty="0"/>
          </a:p>
        </p:txBody>
      </p:sp>
      <p:sp>
        <p:nvSpPr>
          <p:cNvPr id="7" name="Status text"/>
          <p:cNvSpPr txBox="1"/>
          <p:nvPr/>
        </p:nvSpPr>
        <p:spPr>
          <a:xfrm>
            <a:off x="2011680" y="2185416"/>
            <a:ext cx="9082735" cy="502920"/>
          </a:xfrm>
          <a:prstGeom prst="rect">
            <a:avLst/>
          </a:prstGeom>
          <a:noFill/>
          <a:ln/>
        </p:spPr>
        <p:txBody>
          <a:bodyPr wrap="square" lIns="0" tIns="0" rIns="0" bIns="0" rtlCol="0" anchor="ctr"/>
          <a:lstStyle/>
          <a:p>
            <a:pPr indent="0" marL="0">
              <a:buNone/>
            </a:pPr>
            <a:r>
              <a:rPr lang="en-US" sz="1400" dirty="0">
                <a:solidFill>
                  <a:srgbClr val="F4F0FF"/>
                </a:solidFill>
                <a:latin typeface="Orbitron" pitchFamily="34" charset="0"/>
                <a:ea typeface="Orbitron" pitchFamily="34" charset="-122"/>
                <a:cs typeface="Orbitron" pitchFamily="34" charset="-120"/>
              </a:rPr>
              <a:t>Anchor program deployed to devnet, with 19 passing tests covering every instruction and failure path</a:t>
            </a:r>
            <a:endParaRPr lang="en-US" sz="1400" dirty="0"/>
          </a:p>
        </p:txBody>
      </p:sp>
      <p:sp>
        <p:nvSpPr>
          <p:cNvPr id="8" name="Status DONE"/>
          <p:cNvSpPr/>
          <p:nvPr/>
        </p:nvSpPr>
        <p:spPr>
          <a:xfrm>
            <a:off x="914400" y="2880360"/>
            <a:ext cx="868680" cy="365760"/>
          </a:xfrm>
          <a:prstGeom prst="roundRect">
            <a:avLst>
              <a:gd name="adj" fmla="val 50000"/>
            </a:avLst>
          </a:prstGeom>
          <a:solidFill>
            <a:srgbClr val="C1FF72"/>
          </a:solidFill>
          <a:ln w="25400">
            <a:solidFill>
              <a:srgbClr val="C1FF72"/>
            </a:solidFill>
          </a:ln>
        </p:spPr>
        <p:txBody>
          <a:bodyPr wrap="square" lIns="0" tIns="0" rIns="0" bIns="0" rtlCol="0" anchor="ctr"/>
          <a:lstStyle/>
          <a:p>
            <a:pPr algn="ctr" indent="0" marL="0">
              <a:buNone/>
            </a:pPr>
            <a:r>
              <a:rPr lang="en-US" sz="900" dirty="0">
                <a:solidFill>
                  <a:srgbClr val="1800AD"/>
                </a:solidFill>
                <a:latin typeface="Press Start 2P" pitchFamily="34" charset="0"/>
                <a:ea typeface="Press Start 2P" pitchFamily="34" charset="-122"/>
                <a:cs typeface="Press Start 2P" pitchFamily="34" charset="-120"/>
              </a:rPr>
              <a:t>DONE</a:t>
            </a:r>
            <a:endParaRPr lang="en-US" sz="900" dirty="0"/>
          </a:p>
        </p:txBody>
      </p:sp>
      <p:sp>
        <p:nvSpPr>
          <p:cNvPr id="9" name="Status text"/>
          <p:cNvSpPr txBox="1"/>
          <p:nvPr/>
        </p:nvSpPr>
        <p:spPr>
          <a:xfrm>
            <a:off x="2011680" y="2825496"/>
            <a:ext cx="9082735" cy="502920"/>
          </a:xfrm>
          <a:prstGeom prst="rect">
            <a:avLst/>
          </a:prstGeom>
          <a:noFill/>
          <a:ln/>
        </p:spPr>
        <p:txBody>
          <a:bodyPr wrap="square" lIns="0" tIns="0" rIns="0" bIns="0" rtlCol="0" anchor="ctr"/>
          <a:lstStyle/>
          <a:p>
            <a:pPr indent="0" marL="0">
              <a:buNone/>
            </a:pPr>
            <a:r>
              <a:rPr lang="en-US" sz="1400" dirty="0">
                <a:solidFill>
                  <a:srgbClr val="F4F0FF"/>
                </a:solidFill>
                <a:latin typeface="Orbitron" pitchFamily="34" charset="0"/>
                <a:ea typeface="Orbitron" pitchFamily="34" charset="-122"/>
                <a:cs typeface="Orbitron" pitchFamily="34" charset="-120"/>
              </a:rPr>
              <a:t>Settler verified end to end on devnet: stake, drawing registered, scored, position closed, tampered drawing rejected</a:t>
            </a:r>
            <a:endParaRPr lang="en-US" sz="1400" dirty="0"/>
          </a:p>
        </p:txBody>
      </p:sp>
      <p:sp>
        <p:nvSpPr>
          <p:cNvPr id="10" name="Status DONE"/>
          <p:cNvSpPr/>
          <p:nvPr/>
        </p:nvSpPr>
        <p:spPr>
          <a:xfrm>
            <a:off x="914400" y="3520440"/>
            <a:ext cx="868680" cy="365760"/>
          </a:xfrm>
          <a:prstGeom prst="roundRect">
            <a:avLst>
              <a:gd name="adj" fmla="val 50000"/>
            </a:avLst>
          </a:prstGeom>
          <a:solidFill>
            <a:srgbClr val="C1FF72"/>
          </a:solidFill>
          <a:ln w="25400">
            <a:solidFill>
              <a:srgbClr val="C1FF72"/>
            </a:solidFill>
          </a:ln>
        </p:spPr>
        <p:txBody>
          <a:bodyPr wrap="square" lIns="0" tIns="0" rIns="0" bIns="0" rtlCol="0" anchor="ctr"/>
          <a:lstStyle/>
          <a:p>
            <a:pPr algn="ctr" indent="0" marL="0">
              <a:buNone/>
            </a:pPr>
            <a:r>
              <a:rPr lang="en-US" sz="900" dirty="0">
                <a:solidFill>
                  <a:srgbClr val="1800AD"/>
                </a:solidFill>
                <a:latin typeface="Press Start 2P" pitchFamily="34" charset="0"/>
                <a:ea typeface="Press Start 2P" pitchFamily="34" charset="-122"/>
                <a:cs typeface="Press Start 2P" pitchFamily="34" charset="-120"/>
              </a:rPr>
              <a:t>DONE</a:t>
            </a:r>
            <a:endParaRPr lang="en-US" sz="900" dirty="0"/>
          </a:p>
        </p:txBody>
      </p:sp>
      <p:sp>
        <p:nvSpPr>
          <p:cNvPr id="11" name="Status text"/>
          <p:cNvSpPr txBox="1"/>
          <p:nvPr/>
        </p:nvSpPr>
        <p:spPr>
          <a:xfrm>
            <a:off x="2011680" y="3465576"/>
            <a:ext cx="9082735" cy="502920"/>
          </a:xfrm>
          <a:prstGeom prst="rect">
            <a:avLst/>
          </a:prstGeom>
          <a:noFill/>
          <a:ln/>
        </p:spPr>
        <p:txBody>
          <a:bodyPr wrap="square" lIns="0" tIns="0" rIns="0" bIns="0" rtlCol="0" anchor="ctr"/>
          <a:lstStyle/>
          <a:p>
            <a:pPr indent="0" marL="0">
              <a:buNone/>
            </a:pPr>
            <a:r>
              <a:rPr lang="en-US" sz="1400" dirty="0">
                <a:solidFill>
                  <a:srgbClr val="F4F0FF"/>
                </a:solidFill>
                <a:latin typeface="Orbitron" pitchFamily="34" charset="0"/>
                <a:ea typeface="Orbitron" pitchFamily="34" charset="-122"/>
                <a:cs typeface="Orbitron" pitchFamily="34" charset="-120"/>
              </a:rPr>
              <a:t>Full rounds played on a physical Android phone with a real wallet, stake and payout visible on the explorer</a:t>
            </a:r>
            <a:endParaRPr lang="en-US" sz="1400" dirty="0"/>
          </a:p>
        </p:txBody>
      </p:sp>
      <p:sp>
        <p:nvSpPr>
          <p:cNvPr id="12" name="Status NEXT"/>
          <p:cNvSpPr/>
          <p:nvPr/>
        </p:nvSpPr>
        <p:spPr>
          <a:xfrm>
            <a:off x="914400" y="4160520"/>
            <a:ext cx="868680" cy="365760"/>
          </a:xfrm>
          <a:prstGeom prst="roundRect">
            <a:avLst>
              <a:gd name="adj" fmla="val 50000"/>
            </a:avLst>
          </a:prstGeom>
          <a:solidFill>
            <a:srgbClr val="0A0014"/>
          </a:solidFill>
          <a:ln w="25400">
            <a:solidFill>
              <a:srgbClr val="FF9BF5"/>
            </a:solidFill>
          </a:ln>
        </p:spPr>
        <p:txBody>
          <a:bodyPr wrap="square" lIns="0" tIns="0" rIns="0" bIns="0" rtlCol="0" anchor="ctr"/>
          <a:lstStyle/>
          <a:p>
            <a:pPr algn="ctr" indent="0" marL="0">
              <a:buNone/>
            </a:pPr>
            <a:r>
              <a:rPr lang="en-US" sz="900" dirty="0">
                <a:solidFill>
                  <a:srgbClr val="FF9BF5"/>
                </a:solidFill>
                <a:latin typeface="Press Start 2P" pitchFamily="34" charset="0"/>
                <a:ea typeface="Press Start 2P" pitchFamily="34" charset="-122"/>
                <a:cs typeface="Press Start 2P" pitchFamily="34" charset="-120"/>
              </a:rPr>
              <a:t>NEXT</a:t>
            </a:r>
            <a:endParaRPr lang="en-US" sz="900" dirty="0"/>
          </a:p>
        </p:txBody>
      </p:sp>
      <p:sp>
        <p:nvSpPr>
          <p:cNvPr id="13" name="Status text"/>
          <p:cNvSpPr txBox="1"/>
          <p:nvPr/>
        </p:nvSpPr>
        <p:spPr>
          <a:xfrm>
            <a:off x="2011680" y="4105656"/>
            <a:ext cx="9082735" cy="502920"/>
          </a:xfrm>
          <a:prstGeom prst="rect">
            <a:avLst/>
          </a:prstGeom>
          <a:noFill/>
          <a:ln/>
        </p:spPr>
        <p:txBody>
          <a:bodyPr wrap="square" lIns="0" tIns="0" rIns="0" bIns="0" rtlCol="0" anchor="ctr"/>
          <a:lstStyle/>
          <a:p>
            <a:pPr indent="0" marL="0">
              <a:buNone/>
            </a:pPr>
            <a:r>
              <a:rPr lang="en-US" sz="1400" dirty="0">
                <a:solidFill>
                  <a:srgbClr val="F4F0FF"/>
                </a:solidFill>
                <a:latin typeface="Orbitron" pitchFamily="34" charset="0"/>
                <a:ea typeface="Orbitron" pitchFamily="34" charset="-122"/>
                <a:cs typeface="Orbitron" pitchFamily="34" charset="-120"/>
              </a:rPr>
              <a:t>Multi-minute batches and a winning-payout round on device</a:t>
            </a:r>
            <a:endParaRPr lang="en-US" sz="1400" dirty="0"/>
          </a:p>
        </p:txBody>
      </p:sp>
      <p:sp>
        <p:nvSpPr>
          <p:cNvPr id="14" name="Status NEXT"/>
          <p:cNvSpPr/>
          <p:nvPr/>
        </p:nvSpPr>
        <p:spPr>
          <a:xfrm>
            <a:off x="914400" y="4800600"/>
            <a:ext cx="868680" cy="365760"/>
          </a:xfrm>
          <a:prstGeom prst="roundRect">
            <a:avLst>
              <a:gd name="adj" fmla="val 50000"/>
            </a:avLst>
          </a:prstGeom>
          <a:solidFill>
            <a:srgbClr val="0A0014"/>
          </a:solidFill>
          <a:ln w="25400">
            <a:solidFill>
              <a:srgbClr val="FF9BF5"/>
            </a:solidFill>
          </a:ln>
        </p:spPr>
        <p:txBody>
          <a:bodyPr wrap="square" lIns="0" tIns="0" rIns="0" bIns="0" rtlCol="0" anchor="ctr"/>
          <a:lstStyle/>
          <a:p>
            <a:pPr algn="ctr" indent="0" marL="0">
              <a:buNone/>
            </a:pPr>
            <a:r>
              <a:rPr lang="en-US" sz="900" dirty="0">
                <a:solidFill>
                  <a:srgbClr val="FF9BF5"/>
                </a:solidFill>
                <a:latin typeface="Press Start 2P" pitchFamily="34" charset="0"/>
                <a:ea typeface="Press Start 2P" pitchFamily="34" charset="-122"/>
                <a:cs typeface="Press Start 2P" pitchFamily="34" charset="-120"/>
              </a:rPr>
              <a:t>NEXT</a:t>
            </a:r>
            <a:endParaRPr lang="en-US" sz="900" dirty="0"/>
          </a:p>
        </p:txBody>
      </p:sp>
      <p:sp>
        <p:nvSpPr>
          <p:cNvPr id="15" name="Status text"/>
          <p:cNvSpPr txBox="1"/>
          <p:nvPr/>
        </p:nvSpPr>
        <p:spPr>
          <a:xfrm>
            <a:off x="2011680" y="4745736"/>
            <a:ext cx="9082735" cy="502920"/>
          </a:xfrm>
          <a:prstGeom prst="rect">
            <a:avLst/>
          </a:prstGeom>
          <a:noFill/>
          <a:ln/>
        </p:spPr>
        <p:txBody>
          <a:bodyPr wrap="square" lIns="0" tIns="0" rIns="0" bIns="0" rtlCol="0" anchor="ctr"/>
          <a:lstStyle/>
          <a:p>
            <a:pPr indent="0" marL="0">
              <a:buNone/>
            </a:pPr>
            <a:r>
              <a:rPr lang="en-US" sz="1400" dirty="0">
                <a:solidFill>
                  <a:srgbClr val="F4F0FF"/>
                </a:solidFill>
                <a:latin typeface="Orbitron" pitchFamily="34" charset="0"/>
                <a:ea typeface="Orbitron" pitchFamily="34" charset="-122"/>
                <a:cs typeface="Orbitron" pitchFamily="34" charset="-120"/>
              </a:rPr>
              <a:t>Release APK with an https settler so anyone can install and play</a:t>
            </a:r>
            <a:endParaRPr lang="en-US" sz="1400" dirty="0"/>
          </a:p>
        </p:txBody>
      </p:sp>
      <p:sp>
        <p:nvSpPr>
          <p:cNvPr id="16" name="Status NEXT"/>
          <p:cNvSpPr/>
          <p:nvPr/>
        </p:nvSpPr>
        <p:spPr>
          <a:xfrm>
            <a:off x="914400" y="5440680"/>
            <a:ext cx="868680" cy="365760"/>
          </a:xfrm>
          <a:prstGeom prst="roundRect">
            <a:avLst>
              <a:gd name="adj" fmla="val 50000"/>
            </a:avLst>
          </a:prstGeom>
          <a:solidFill>
            <a:srgbClr val="0A0014"/>
          </a:solidFill>
          <a:ln w="25400">
            <a:solidFill>
              <a:srgbClr val="FF9BF5"/>
            </a:solidFill>
          </a:ln>
        </p:spPr>
        <p:txBody>
          <a:bodyPr wrap="square" lIns="0" tIns="0" rIns="0" bIns="0" rtlCol="0" anchor="ctr"/>
          <a:lstStyle/>
          <a:p>
            <a:pPr algn="ctr" indent="0" marL="0">
              <a:buNone/>
            </a:pPr>
            <a:r>
              <a:rPr lang="en-US" sz="900" dirty="0">
                <a:solidFill>
                  <a:srgbClr val="FF9BF5"/>
                </a:solidFill>
                <a:latin typeface="Press Start 2P" pitchFamily="34" charset="0"/>
                <a:ea typeface="Press Start 2P" pitchFamily="34" charset="-122"/>
                <a:cs typeface="Press Start 2P" pitchFamily="34" charset="-120"/>
              </a:rPr>
              <a:t>NEXT</a:t>
            </a:r>
            <a:endParaRPr lang="en-US" sz="900" dirty="0"/>
          </a:p>
        </p:txBody>
      </p:sp>
      <p:sp>
        <p:nvSpPr>
          <p:cNvPr id="17" name="Status text"/>
          <p:cNvSpPr txBox="1"/>
          <p:nvPr/>
        </p:nvSpPr>
        <p:spPr>
          <a:xfrm>
            <a:off x="2011680" y="5385816"/>
            <a:ext cx="9082735" cy="502920"/>
          </a:xfrm>
          <a:prstGeom prst="rect">
            <a:avLst/>
          </a:prstGeom>
          <a:noFill/>
          <a:ln/>
        </p:spPr>
        <p:txBody>
          <a:bodyPr wrap="square" lIns="0" tIns="0" rIns="0" bIns="0" rtlCol="0" anchor="ctr"/>
          <a:lstStyle/>
          <a:p>
            <a:pPr indent="0" marL="0">
              <a:buNone/>
            </a:pPr>
            <a:r>
              <a:rPr lang="en-US" sz="1400" dirty="0">
                <a:solidFill>
                  <a:srgbClr val="F4F0FF"/>
                </a:solidFill>
                <a:latin typeface="Orbitron" pitchFamily="34" charset="0"/>
                <a:ea typeface="Orbitron" pitchFamily="34" charset="-122"/>
                <a:cs typeface="Orbitron" pitchFamily="34" charset="-120"/>
              </a:rPr>
              <a:t>A shared leaderboard read from program events (today it is on the device)</a:t>
            </a:r>
            <a:endParaRPr lang="en-US" sz="1400" dirty="0"/>
          </a:p>
        </p:txBody>
      </p:sp>
      <p:sp>
        <p:nvSpPr>
          <p:cNvPr id="25" name="Slide Number Placeholder 0"/>
          <p:cNvSpPr>
            <a:spLocks noGrp="1"/>
          </p:cNvSpPr>
          <p:nvPr>
            <p:ph type="sldNum" sz="quarter" idx="4294967295"/>
          </p:nvPr>
        </p:nvSpPr>
        <p:spPr>
          <a:xfrm>
            <a:off x="1115568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1FF72"/>
                </a:solidFill>
                <a:latin typeface="Press Start 2P"/>
                <a:ea typeface="Press Start 2P"/>
                <a:cs typeface="Press Start 2P"/>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ag"/>
          <p:cNvSpPr txBox="1"/>
          <p:nvPr/>
        </p:nvSpPr>
        <p:spPr>
          <a:xfrm>
            <a:off x="640080" y="502920"/>
            <a:ext cx="10911535" cy="274320"/>
          </a:xfrm>
          <a:prstGeom prst="rect">
            <a:avLst/>
          </a:prstGeom>
          <a:noFill/>
          <a:ln/>
        </p:spPr>
        <p:txBody>
          <a:bodyPr wrap="square" lIns="0" tIns="0" rIns="0" bIns="0" rtlCol="0" anchor="ctr"/>
          <a:lstStyle/>
          <a:p>
            <a:pPr indent="0" marL="0">
              <a:buNone/>
            </a:pPr>
            <a:r>
              <a:rPr lang="en-US" sz="1000" dirty="0">
                <a:solidFill>
                  <a:schemeClr val="accent1"/>
                </a:solidFill>
                <a:latin typeface="Press Start 2P" pitchFamily="34" charset="0"/>
                <a:ea typeface="Press Start 2P" pitchFamily="34" charset="-122"/>
                <a:cs typeface="Press Start 2P" pitchFamily="34" charset="-120"/>
              </a:rPr>
              <a:t>ROADMAP</a:t>
            </a:r>
            <a:endParaRPr lang="en-US" sz="1000" dirty="0"/>
          </a:p>
        </p:txBody>
      </p:sp>
      <p:sp>
        <p:nvSpPr>
          <p:cNvPr id="3" name="Title"/>
          <p:cNvSpPr txBox="1"/>
          <p:nvPr/>
        </p:nvSpPr>
        <p:spPr>
          <a:xfrm>
            <a:off x="640080" y="868680"/>
            <a:ext cx="10911535" cy="1005840"/>
          </a:xfrm>
          <a:prstGeom prst="rect">
            <a:avLst/>
          </a:prstGeom>
          <a:noFill/>
          <a:ln/>
        </p:spPr>
        <p:txBody>
          <a:bodyPr wrap="square" lIns="0" tIns="0" rIns="0" bIns="0" rtlCol="0" anchor="t">
            <a:normAutofit/>
          </a:bodyPr>
          <a:lstStyle/>
          <a:p>
            <a:pPr indent="0" marL="0">
              <a:buNone/>
            </a:pPr>
            <a:r>
              <a:rPr lang="en-US" sz="3400" b="1" i="1" dirty="0">
                <a:solidFill>
                  <a:schemeClr val="accent1"/>
                </a:solidFill>
                <a:latin typeface="Orbitron" pitchFamily="34" charset="0"/>
                <a:ea typeface="Orbitron" pitchFamily="34" charset="-122"/>
                <a:cs typeface="Orbitron" pitchFamily="34" charset="-120"/>
              </a:rPr>
              <a:t>From a one-phone demo to a game people share</a:t>
            </a:r>
            <a:endParaRPr lang="en-US" sz="3400" dirty="0"/>
          </a:p>
        </p:txBody>
      </p:sp>
      <p:sp>
        <p:nvSpPr>
          <p:cNvPr id="4" name="Card shadow"/>
          <p:cNvSpPr/>
          <p:nvPr/>
        </p:nvSpPr>
        <p:spPr>
          <a:xfrm>
            <a:off x="722376" y="2322576"/>
            <a:ext cx="3474720" cy="3108960"/>
          </a:xfrm>
          <a:prstGeom prst="roundRect">
            <a:avLst>
              <a:gd name="adj" fmla="val 4118"/>
            </a:avLst>
          </a:prstGeom>
          <a:solidFill>
            <a:srgbClr val="1800AD"/>
          </a:solidFill>
          <a:ln w="12700">
            <a:solidFill>
              <a:srgbClr val="1800AD"/>
            </a:solidFill>
            <a:prstDash val="solid"/>
          </a:ln>
        </p:spPr>
      </p:sp>
      <p:sp>
        <p:nvSpPr>
          <p:cNvPr id="5" name="Card"/>
          <p:cNvSpPr/>
          <p:nvPr/>
        </p:nvSpPr>
        <p:spPr>
          <a:xfrm>
            <a:off x="640080" y="2240280"/>
            <a:ext cx="3474720" cy="3108960"/>
          </a:xfrm>
          <a:prstGeom prst="roundRect">
            <a:avLst>
              <a:gd name="adj" fmla="val 4118"/>
            </a:avLst>
          </a:prstGeom>
          <a:solidFill>
            <a:srgbClr val="0A0014"/>
          </a:solidFill>
          <a:ln w="31750">
            <a:solidFill>
              <a:srgbClr val="C1FF72"/>
            </a:solidFill>
          </a:ln>
        </p:spPr>
        <p:txBody>
          <a:bodyPr wrap="square" lIns="139700" tIns="177800" rIns="177800" bIns="139700" rtlCol="0" anchor="t"/>
          <a:lstStyle/>
          <a:p>
            <a:pPr indent="0" marL="0">
              <a:spcAft>
                <a:spcPts val="800"/>
              </a:spcAft>
              <a:buNone/>
            </a:pPr>
            <a:r>
              <a:rPr lang="en-US" sz="1000" dirty="0">
                <a:solidFill>
                  <a:srgbClr val="C1FF72"/>
                </a:solidFill>
                <a:latin typeface="Press Start 2P" pitchFamily="34" charset="0"/>
                <a:ea typeface="Press Start 2P" pitchFamily="34" charset="-122"/>
                <a:cs typeface="Press Start 2P" pitchFamily="34" charset="-120"/>
              </a:rPr>
              <a:t>NOW</a:t>
            </a:r>
            <a:endParaRPr lang="en-US" sz="1400" dirty="0"/>
          </a:p>
          <a:p>
            <a:pPr indent="0" marL="0">
              <a:spcAft>
                <a:spcPts val="600"/>
              </a:spcAft>
              <a:buNone/>
            </a:pPr>
            <a:r>
              <a:rPr lang="en-US" sz="1600" b="1" dirty="0">
                <a:solidFill>
                  <a:srgbClr val="C1FF72"/>
                </a:solidFill>
                <a:latin typeface="Orbitron" pitchFamily="34" charset="0"/>
                <a:ea typeface="Orbitron" pitchFamily="34" charset="-122"/>
                <a:cs typeface="Orbitron" pitchFamily="34" charset="-120"/>
              </a:rPr>
              <a:t>Hackathon build</a:t>
            </a:r>
            <a:endParaRPr lang="en-US" sz="1400" dirty="0"/>
          </a:p>
          <a:p>
            <a:pPr marL="342900" indent="-342900">
              <a:spcAft>
                <a:spcPts val="800"/>
              </a:spcAft>
              <a:buSzPct val="100000"/>
              <a:buChar char="•"/>
            </a:pPr>
            <a:r>
              <a:rPr lang="en-US" sz="1400" dirty="0">
                <a:solidFill>
                  <a:srgbClr val="F4F0FF"/>
                </a:solidFill>
                <a:latin typeface="Orbitron" pitchFamily="34" charset="0"/>
                <a:ea typeface="Orbitron" pitchFamily="34" charset="-122"/>
                <a:cs typeface="Orbitron" pitchFamily="34" charset="-120"/>
              </a:rPr>
              <a:t>Release APK</a:t>
            </a:r>
            <a:endParaRPr lang="en-US" sz="1400" dirty="0"/>
          </a:p>
          <a:p>
            <a:pPr marL="342900" indent="-342900">
              <a:spcAft>
                <a:spcPts val="800"/>
              </a:spcAft>
              <a:buSzPct val="100000"/>
              <a:buChar char="•"/>
            </a:pPr>
            <a:r>
              <a:rPr lang="en-US" sz="1400" dirty="0">
                <a:solidFill>
                  <a:srgbClr val="F4F0FF"/>
                </a:solidFill>
                <a:latin typeface="Orbitron" pitchFamily="34" charset="0"/>
                <a:ea typeface="Orbitron" pitchFamily="34" charset="-122"/>
                <a:cs typeface="Orbitron" pitchFamily="34" charset="-120"/>
              </a:rPr>
              <a:t>Demo video</a:t>
            </a:r>
            <a:endParaRPr lang="en-US" sz="1400" dirty="0"/>
          </a:p>
          <a:p>
            <a:pPr marL="342900" indent="-342900">
              <a:spcAft>
                <a:spcPts val="800"/>
              </a:spcAft>
              <a:buSzPct val="100000"/>
              <a:buChar char="•"/>
            </a:pPr>
            <a:r>
              <a:rPr lang="en-US" sz="1400" dirty="0">
                <a:solidFill>
                  <a:srgbClr val="F4F0FF"/>
                </a:solidFill>
                <a:latin typeface="Orbitron" pitchFamily="34" charset="0"/>
                <a:ea typeface="Orbitron" pitchFamily="34" charset="-122"/>
                <a:cs typeface="Orbitron" pitchFamily="34" charset="-120"/>
              </a:rPr>
              <a:t>Hosted settler</a:t>
            </a:r>
            <a:endParaRPr lang="en-US" sz="1400" dirty="0"/>
          </a:p>
        </p:txBody>
      </p:sp>
      <p:sp>
        <p:nvSpPr>
          <p:cNvPr id="6" name="Card shadow"/>
          <p:cNvSpPr/>
          <p:nvPr/>
        </p:nvSpPr>
        <p:spPr>
          <a:xfrm>
            <a:off x="4517136" y="2322576"/>
            <a:ext cx="3474720" cy="3108960"/>
          </a:xfrm>
          <a:prstGeom prst="roundRect">
            <a:avLst>
              <a:gd name="adj" fmla="val 4118"/>
            </a:avLst>
          </a:prstGeom>
          <a:solidFill>
            <a:srgbClr val="1800AD"/>
          </a:solidFill>
          <a:ln w="12700">
            <a:solidFill>
              <a:srgbClr val="1800AD"/>
            </a:solidFill>
            <a:prstDash val="solid"/>
          </a:ln>
        </p:spPr>
      </p:sp>
      <p:sp>
        <p:nvSpPr>
          <p:cNvPr id="7" name="Card"/>
          <p:cNvSpPr/>
          <p:nvPr/>
        </p:nvSpPr>
        <p:spPr>
          <a:xfrm>
            <a:off x="4434840" y="2240280"/>
            <a:ext cx="3474720" cy="3108960"/>
          </a:xfrm>
          <a:prstGeom prst="roundRect">
            <a:avLst>
              <a:gd name="adj" fmla="val 4118"/>
            </a:avLst>
          </a:prstGeom>
          <a:solidFill>
            <a:srgbClr val="0A0014"/>
          </a:solidFill>
          <a:ln w="31750">
            <a:solidFill>
              <a:srgbClr val="C1FF72"/>
            </a:solidFill>
          </a:ln>
        </p:spPr>
        <p:txBody>
          <a:bodyPr wrap="square" lIns="139700" tIns="177800" rIns="177800" bIns="139700" rtlCol="0" anchor="t"/>
          <a:lstStyle/>
          <a:p>
            <a:pPr indent="0" marL="0">
              <a:spcAft>
                <a:spcPts val="800"/>
              </a:spcAft>
              <a:buNone/>
            </a:pPr>
            <a:r>
              <a:rPr lang="en-US" sz="1000" dirty="0">
                <a:solidFill>
                  <a:srgbClr val="C1FF72"/>
                </a:solidFill>
                <a:latin typeface="Press Start 2P" pitchFamily="34" charset="0"/>
                <a:ea typeface="Press Start 2P" pitchFamily="34" charset="-122"/>
                <a:cs typeface="Press Start 2P" pitchFamily="34" charset="-120"/>
              </a:rPr>
              <a:t>NEXT</a:t>
            </a:r>
            <a:endParaRPr lang="en-US" sz="1400" dirty="0"/>
          </a:p>
          <a:p>
            <a:pPr indent="0" marL="0">
              <a:spcAft>
                <a:spcPts val="600"/>
              </a:spcAft>
              <a:buNone/>
            </a:pPr>
            <a:r>
              <a:rPr lang="en-US" sz="1600" b="1" dirty="0">
                <a:solidFill>
                  <a:srgbClr val="C1FF72"/>
                </a:solidFill>
                <a:latin typeface="Orbitron" pitchFamily="34" charset="0"/>
                <a:ea typeface="Orbitron" pitchFamily="34" charset="-122"/>
                <a:cs typeface="Orbitron" pitchFamily="34" charset="-120"/>
              </a:rPr>
              <a:t>Fair and social</a:t>
            </a:r>
            <a:endParaRPr lang="en-US" sz="1400" dirty="0"/>
          </a:p>
          <a:p>
            <a:pPr marL="342900" indent="-342900">
              <a:spcAft>
                <a:spcPts val="800"/>
              </a:spcAft>
              <a:buSzPct val="100000"/>
              <a:buChar char="•"/>
            </a:pPr>
            <a:r>
              <a:rPr lang="en-US" sz="1400" dirty="0">
                <a:solidFill>
                  <a:srgbClr val="F4F0FF"/>
                </a:solidFill>
                <a:latin typeface="Orbitron" pitchFamily="34" charset="0"/>
                <a:ea typeface="Orbitron" pitchFamily="34" charset="-122"/>
                <a:cs typeface="Orbitron" pitchFamily="34" charset="-120"/>
              </a:rPr>
              <a:t>On-chain price oracle</a:t>
            </a:r>
            <a:endParaRPr lang="en-US" sz="1400" dirty="0"/>
          </a:p>
          <a:p>
            <a:pPr marL="342900" indent="-342900">
              <a:spcAft>
                <a:spcPts val="800"/>
              </a:spcAft>
              <a:buSzPct val="100000"/>
              <a:buChar char="•"/>
            </a:pPr>
            <a:r>
              <a:rPr lang="en-US" sz="1400" dirty="0">
                <a:solidFill>
                  <a:srgbClr val="F4F0FF"/>
                </a:solidFill>
                <a:latin typeface="Orbitron" pitchFamily="34" charset="0"/>
                <a:ea typeface="Orbitron" pitchFamily="34" charset="-122"/>
                <a:cs typeface="Orbitron" pitchFamily="34" charset="-120"/>
              </a:rPr>
              <a:t>Global leaderboard</a:t>
            </a:r>
            <a:endParaRPr lang="en-US" sz="1400" dirty="0"/>
          </a:p>
          <a:p>
            <a:pPr marL="342900" indent="-342900">
              <a:spcAft>
                <a:spcPts val="800"/>
              </a:spcAft>
              <a:buSzPct val="100000"/>
              <a:buChar char="•"/>
            </a:pPr>
            <a:r>
              <a:rPr lang="en-US" sz="1400" dirty="0">
                <a:solidFill>
                  <a:srgbClr val="F4F0FF"/>
                </a:solidFill>
                <a:latin typeface="Orbitron" pitchFamily="34" charset="0"/>
                <a:ea typeface="Orbitron" pitchFamily="34" charset="-122"/>
                <a:cs typeface="Orbitron" pitchFamily="34" charset="-120"/>
              </a:rPr>
              <a:t>Push for settled rounds</a:t>
            </a:r>
            <a:endParaRPr lang="en-US" sz="1400" dirty="0"/>
          </a:p>
        </p:txBody>
      </p:sp>
      <p:sp>
        <p:nvSpPr>
          <p:cNvPr id="8" name="Card shadow"/>
          <p:cNvSpPr/>
          <p:nvPr/>
        </p:nvSpPr>
        <p:spPr>
          <a:xfrm>
            <a:off x="8311896" y="2322576"/>
            <a:ext cx="3474720" cy="3108960"/>
          </a:xfrm>
          <a:prstGeom prst="roundRect">
            <a:avLst>
              <a:gd name="adj" fmla="val 4118"/>
            </a:avLst>
          </a:prstGeom>
          <a:solidFill>
            <a:srgbClr val="1800AD"/>
          </a:solidFill>
          <a:ln w="12700">
            <a:solidFill>
              <a:srgbClr val="1800AD"/>
            </a:solidFill>
            <a:prstDash val="solid"/>
          </a:ln>
        </p:spPr>
      </p:sp>
      <p:sp>
        <p:nvSpPr>
          <p:cNvPr id="9" name="Card"/>
          <p:cNvSpPr/>
          <p:nvPr/>
        </p:nvSpPr>
        <p:spPr>
          <a:xfrm>
            <a:off x="8229600" y="2240280"/>
            <a:ext cx="3474720" cy="3108960"/>
          </a:xfrm>
          <a:prstGeom prst="roundRect">
            <a:avLst>
              <a:gd name="adj" fmla="val 4118"/>
            </a:avLst>
          </a:prstGeom>
          <a:solidFill>
            <a:srgbClr val="0A0014"/>
          </a:solidFill>
          <a:ln w="31750">
            <a:solidFill>
              <a:srgbClr val="C1FF72"/>
            </a:solidFill>
          </a:ln>
        </p:spPr>
        <p:txBody>
          <a:bodyPr wrap="square" lIns="139700" tIns="177800" rIns="177800" bIns="139700" rtlCol="0" anchor="t"/>
          <a:lstStyle/>
          <a:p>
            <a:pPr indent="0" marL="0">
              <a:spcAft>
                <a:spcPts val="800"/>
              </a:spcAft>
              <a:buNone/>
            </a:pPr>
            <a:r>
              <a:rPr lang="en-US" sz="1000" dirty="0">
                <a:solidFill>
                  <a:srgbClr val="C1FF72"/>
                </a:solidFill>
                <a:latin typeface="Press Start 2P" pitchFamily="34" charset="0"/>
                <a:ea typeface="Press Start 2P" pitchFamily="34" charset="-122"/>
                <a:cs typeface="Press Start 2P" pitchFamily="34" charset="-120"/>
              </a:rPr>
              <a:t>LATER</a:t>
            </a:r>
            <a:endParaRPr lang="en-US" sz="1400" dirty="0"/>
          </a:p>
          <a:p>
            <a:pPr indent="0" marL="0">
              <a:spcAft>
                <a:spcPts val="600"/>
              </a:spcAft>
              <a:buNone/>
            </a:pPr>
            <a:r>
              <a:rPr lang="en-US" sz="1600" b="1" dirty="0">
                <a:solidFill>
                  <a:srgbClr val="C1FF72"/>
                </a:solidFill>
                <a:latin typeface="Orbitron" pitchFamily="34" charset="0"/>
                <a:ea typeface="Orbitron" pitchFamily="34" charset="-122"/>
                <a:cs typeface="Orbitron" pitchFamily="34" charset="-120"/>
              </a:rPr>
              <a:t>Open game</a:t>
            </a:r>
            <a:endParaRPr lang="en-US" sz="1400" dirty="0"/>
          </a:p>
          <a:p>
            <a:pPr marL="342900" indent="-342900">
              <a:spcAft>
                <a:spcPts val="800"/>
              </a:spcAft>
              <a:buSzPct val="100000"/>
              <a:buChar char="•"/>
            </a:pPr>
            <a:r>
              <a:rPr lang="en-US" sz="1400" dirty="0">
                <a:solidFill>
                  <a:srgbClr val="F4F0FF"/>
                </a:solidFill>
                <a:latin typeface="Orbitron" pitchFamily="34" charset="0"/>
                <a:ea typeface="Orbitron" pitchFamily="34" charset="-122"/>
                <a:cs typeface="Orbitron" pitchFamily="34" charset="-120"/>
              </a:rPr>
              <a:t>More assets and timeframes</a:t>
            </a:r>
            <a:endParaRPr lang="en-US" sz="1400" dirty="0"/>
          </a:p>
          <a:p>
            <a:pPr marL="342900" indent="-342900">
              <a:spcAft>
                <a:spcPts val="800"/>
              </a:spcAft>
              <a:buSzPct val="100000"/>
              <a:buChar char="•"/>
            </a:pPr>
            <a:r>
              <a:rPr lang="en-US" sz="1400" dirty="0">
                <a:solidFill>
                  <a:srgbClr val="F4F0FF"/>
                </a:solidFill>
                <a:latin typeface="Orbitron" pitchFamily="34" charset="0"/>
                <a:ea typeface="Orbitron" pitchFamily="34" charset="-122"/>
                <a:cs typeface="Orbitron" pitchFamily="34" charset="-120"/>
              </a:rPr>
              <a:t>Seasons and rewards</a:t>
            </a:r>
            <a:endParaRPr lang="en-US" sz="1400" dirty="0"/>
          </a:p>
          <a:p>
            <a:pPr marL="342900" indent="-342900">
              <a:spcAft>
                <a:spcPts val="800"/>
              </a:spcAft>
              <a:buSzPct val="100000"/>
              <a:buChar char="•"/>
            </a:pPr>
            <a:r>
              <a:rPr lang="en-US" sz="1400" dirty="0">
                <a:solidFill>
                  <a:srgbClr val="F4F0FF"/>
                </a:solidFill>
                <a:latin typeface="Orbitron" pitchFamily="34" charset="0"/>
                <a:ea typeface="Orbitron" pitchFamily="34" charset="-122"/>
                <a:cs typeface="Orbitron" pitchFamily="34" charset="-120"/>
              </a:rPr>
              <a:t>Verified app identity in wallets</a:t>
            </a:r>
            <a:endParaRPr lang="en-US" sz="1400" dirty="0"/>
          </a:p>
        </p:txBody>
      </p:sp>
      <p:sp>
        <p:nvSpPr>
          <p:cNvPr id="25" name="Slide Number Placeholder 0"/>
          <p:cNvSpPr>
            <a:spLocks noGrp="1"/>
          </p:cNvSpPr>
          <p:nvPr>
            <p:ph type="sldNum" sz="quarter" idx="4294967295"/>
          </p:nvPr>
        </p:nvSpPr>
        <p:spPr>
          <a:xfrm>
            <a:off x="1115568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1FF72"/>
                </a:solidFill>
                <a:latin typeface="Press Start 2P"/>
                <a:ea typeface="Press Start 2P"/>
                <a:cs typeface="Press Start 2P"/>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ag"/>
          <p:cNvSpPr txBox="1"/>
          <p:nvPr/>
        </p:nvSpPr>
        <p:spPr>
          <a:xfrm>
            <a:off x="640080" y="1463040"/>
            <a:ext cx="10911535" cy="274320"/>
          </a:xfrm>
          <a:prstGeom prst="rect">
            <a:avLst/>
          </a:prstGeom>
          <a:noFill/>
          <a:ln/>
        </p:spPr>
        <p:txBody>
          <a:bodyPr wrap="square" lIns="0" tIns="0" rIns="0" bIns="0" rtlCol="0" anchor="ctr"/>
          <a:lstStyle/>
          <a:p>
            <a:pPr indent="0" marL="0">
              <a:buNone/>
            </a:pPr>
            <a:r>
              <a:rPr lang="en-US" sz="1000" dirty="0">
                <a:solidFill>
                  <a:schemeClr val="accent1"/>
                </a:solidFill>
                <a:latin typeface="Press Start 2P" pitchFamily="34" charset="0"/>
                <a:ea typeface="Press Start 2P" pitchFamily="34" charset="-122"/>
                <a:cs typeface="Press Start 2P" pitchFamily="34" charset="-120"/>
              </a:rPr>
              <a:t>SCRAWL</a:t>
            </a:r>
            <a:endParaRPr lang="en-US" sz="1000" dirty="0"/>
          </a:p>
        </p:txBody>
      </p:sp>
      <p:sp>
        <p:nvSpPr>
          <p:cNvPr id="3" name="Title"/>
          <p:cNvSpPr txBox="1"/>
          <p:nvPr/>
        </p:nvSpPr>
        <p:spPr>
          <a:xfrm>
            <a:off x="640080" y="1920240"/>
            <a:ext cx="10515600" cy="1097280"/>
          </a:xfrm>
          <a:prstGeom prst="rect">
            <a:avLst/>
          </a:prstGeom>
          <a:noFill/>
          <a:ln/>
        </p:spPr>
        <p:txBody>
          <a:bodyPr wrap="square" lIns="0" tIns="0" rIns="0" bIns="0" rtlCol="0" anchor="ctr"/>
          <a:lstStyle/>
          <a:p>
            <a:pPr indent="0" marL="0">
              <a:buNone/>
            </a:pPr>
            <a:r>
              <a:rPr lang="en-US" sz="4800" b="1" i="1" dirty="0">
                <a:solidFill>
                  <a:schemeClr val="accent1"/>
                </a:solidFill>
                <a:latin typeface="Orbitron" pitchFamily="34" charset="0"/>
                <a:ea typeface="Orbitron" pitchFamily="34" charset="-122"/>
                <a:cs typeface="Orbitron" pitchFamily="34" charset="-120"/>
              </a:rPr>
              <a:t>Draw. Stake. Get scored.</a:t>
            </a:r>
            <a:endParaRPr lang="en-US" sz="4800" dirty="0"/>
          </a:p>
        </p:txBody>
      </p:sp>
      <p:sp>
        <p:nvSpPr>
          <p:cNvPr id="4" name="Subtitle"/>
          <p:cNvSpPr txBox="1"/>
          <p:nvPr/>
        </p:nvSpPr>
        <p:spPr>
          <a:xfrm>
            <a:off x="640080" y="3200400"/>
            <a:ext cx="9144000" cy="548640"/>
          </a:xfrm>
          <a:prstGeom prst="rect">
            <a:avLst/>
          </a:prstGeom>
          <a:noFill/>
          <a:ln/>
        </p:spPr>
        <p:txBody>
          <a:bodyPr wrap="square" lIns="0" tIns="0" rIns="0" bIns="0" rtlCol="0" anchor="ctr"/>
          <a:lstStyle/>
          <a:p>
            <a:pPr indent="0" marL="0">
              <a:buNone/>
            </a:pPr>
            <a:r>
              <a:rPr lang="en-US" sz="2000" dirty="0">
                <a:solidFill>
                  <a:srgbClr val="F4F0FF"/>
                </a:solidFill>
                <a:latin typeface="Orbitron" pitchFamily="34" charset="0"/>
                <a:ea typeface="Orbitron" pitchFamily="34" charset="-122"/>
                <a:cs typeface="Orbitron" pitchFamily="34" charset="-120"/>
              </a:rPr>
              <a:t>A futures game that fits in one thumb, on Solana Mobile.</a:t>
            </a:r>
            <a:endParaRPr lang="en-US" sz="2000" dirty="0"/>
          </a:p>
        </p:txBody>
      </p:sp>
      <p:pic>
        <p:nvPicPr>
          <p:cNvPr id="5" name="Nyan Cat" descr="Nyan Cat running with a rainbow trail">    </p:cNvPr>
          <p:cNvPicPr>
            <a:picLocks noChangeAspect="1"/>
          </p:cNvPicPr>
          <p:nvPr/>
        </p:nvPicPr>
        <p:blipFill>
          <a:blip r:embed="rId1"/>
          <a:stretch>
            <a:fillRect/>
          </a:stretch>
        </p:blipFill>
        <p:spPr>
          <a:xfrm>
            <a:off x="5577840" y="4709160"/>
            <a:ext cx="6400800" cy="2039112"/>
          </a:xfrm>
          <a:prstGeom prst="rect">
            <a:avLst/>
          </a:prstGeom>
        </p:spPr>
      </p:pic>
      <p:sp>
        <p:nvSpPr>
          <p:cNvPr id="25" name="Slide Number Placeholder 0"/>
          <p:cNvSpPr>
            <a:spLocks noGrp="1"/>
          </p:cNvSpPr>
          <p:nvPr>
            <p:ph type="sldNum" sz="quarter" idx="4294967295"/>
          </p:nvPr>
        </p:nvSpPr>
        <p:spPr>
          <a:xfrm>
            <a:off x="1115568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1FF72"/>
                </a:solidFill>
                <a:latin typeface="Press Start 2P"/>
                <a:ea typeface="Press Start 2P"/>
                <a:cs typeface="Press Start 2P"/>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crawl">
  <a:themeElements>
    <a:clrScheme name="Scrawl">
      <a:dk1>
        <a:srgbClr val="0A0014"/>
      </a:dk1>
      <a:lt1>
        <a:srgbClr val="F4F0FF"/>
      </a:lt1>
      <a:dk2>
        <a:srgbClr val="1800AD"/>
      </a:dk2>
      <a:lt2>
        <a:srgbClr val="B9B0E6"/>
      </a:lt2>
      <a:accent1>
        <a:srgbClr val="C1FF72"/>
      </a:accent1>
      <a:accent2>
        <a:srgbClr val="FF9BF5"/>
      </a:accent2>
      <a:accent3>
        <a:srgbClr val="FBBF24"/>
      </a:accent3>
      <a:accent4>
        <a:srgbClr val="1800AD"/>
      </a:accent4>
      <a:accent5>
        <a:srgbClr val="6EE7B7"/>
      </a:accent5>
      <a:accent6>
        <a:srgbClr val="F87171"/>
      </a:accent6>
      <a:hlink>
        <a:srgbClr val="C1FF72"/>
      </a:hlink>
      <a:folHlink>
        <a:srgbClr val="FF9BF5"/>
      </a:folHlink>
    </a:clrScheme>
    <a:fontScheme name="Scrawl">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Scrawl Pitch Deck</dc:title>
  <dc:subject>PptxGenJS Presentation</dc:subject>
  <dc:creator>Scrawl</dc:creator>
  <cp:lastModifiedBy>Scrawl</cp:lastModifiedBy>
  <cp:revision>1</cp:revision>
  <dcterms:created xsi:type="dcterms:W3CDTF">2026-10-10T14:06:39Z</dcterms:created>
  <dcterms:modified xsi:type="dcterms:W3CDTF">2026-10-10T14:06:39Z</dcterms:modified>
</cp:coreProperties>
</file>